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e2040611-db55-c385-e2a1-9245cb875f91}">
          <p14:sldIdLst>
            <p14:sldId id="256"/>
            <p14:sldId id="257"/>
          </p14:sldIdLst>
        </p14:section>
        <p14:section name="認識工具" id="{7b7c428b-c8e8-73a6-9a6e-443b667ac93f}">
          <p14:sldIdLst>
            <p14:sldId id="258"/>
            <p14:sldId id="259"/>
            <p14:sldId id="260"/>
          </p14:sldIdLst>
        </p14:section>
        <p14:section name="安裝" id="{cfa32e8d-76e9-1df3-22df-922ac8992421}">
          <p14:sldIdLst>
            <p14:sldId id="261"/>
            <p14:sldId id="262"/>
            <p14:sldId id="263"/>
          </p14:sldIdLst>
        </p14:section>
        <p14:section name="C 案操作" id="{ac0ce7b8-f888-ab96-bd3c-bf7d0c3c5d78}">
          <p14:sldIdLst>
            <p14:sldId id="264"/>
            <p14:sldId id="265"/>
            <p14:sldId id="266"/>
            <p14:sldId id="267"/>
            <p14:sldId id="268"/>
          </p14:sldIdLst>
        </p14:section>
        <p14:section name="D 案操作" id="{9d8f2313-144f-3168-b35e-2b03ef7677c7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雙面板" id="{8120f6e6-7337-f971-3084-388f34013b5c}">
          <p14:sldIdLst>
            <p14:sldId id="275"/>
            <p14:sldId id="276"/>
            <p14:sldId id="277"/>
          </p14:sldIdLst>
        </p14:section>
        <p14:section name="看懂輸出" id="{c43dbc86-6b51-f06f-5eaa-f783d9580285}">
          <p14:sldIdLst>
            <p14:sldId id="278"/>
            <p14:sldId id="279"/>
            <p14:sldId id="280"/>
          </p14:sldIdLst>
        </p14:section>
        <p14:section name="疑難排解" id="{faa1ee8e-0bf2-1d3b-c919-770dfa645de9}">
          <p14:sldIdLst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Matcher 操作 SOP 封面。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目錄，含超連結。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這個工具在做什麼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三種介面（CLI / C 案 / D 案）共用同一份核心邏輯， 同一份輸入產出的 Excel 完全相同。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run_CLI.bat：命令列；run_C_streamlit.bat：C 案．瀏覽器；run_D_webview.bat：D 案．原生視窗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兩包的程式本體與範例資料完全相同，差別只在「套件怎麼來」。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解壓縮到任意資料夾　2. 執行「安裝.bat」　3. 看到「請重開視窗」就再跑一次　4. 確認三行都是 [OK]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案　瀏覽器介面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四個檔案由程式自動偵測，候選依最後修改時間排序，最新的排第一個　偵測是看「內容」不是看檔名 —— 把產出的 E-BOM 丟回資料夾不會被誤認　不對就按右邊的「瀏覽…」自己選　輸出路徑預設在 output\，副檔名一律強制 .xlsx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展開「📂 目錄瀏覽器」就能自己翻資料夾　左邊是子資料夾，右邊是符合副檔名的檔案，後面附最後修改日期　「⬆ 上一層」往上、「🏠 程式目錄」跳回程式所在位置　點檔名即選取，上方的下拉選單會跟著換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上方六個數字：總項次 / 輸出列數 / 命中 / 未命中 / Knowledge / Total Qty　表格可直接改 P/N、RC/EC、Description、Qty、Location　改完按「儲存修改」才會帶進產出的 Excel　狀態欄的 🟠🟡🟢⚪ 對應輸出 Excel 的橘／黃／綠底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按「▶ 產出 Excel」，檔案直接寫到輸出路徑　下方日誌會列出 PCB 圖片尺寸、實際輸出路徑、項數與 Total Qty　「⤓ 下載 xlsx」可另存一份到瀏覽器的下載目錄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 案　原生視窗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欄位與 C 案相同，每個都有「瀏覽…」　位號 TOP/BOT 對照表：選填，給了就切換成雙面板模式　PCB 圖片（BOT 面）：雙面板時提供兩張，圖片區自動切成上下兩半　「替代料拆列」打勾時一列只有一個 P/N；取消勾選會回到 a;b 單列格式　下方黑色區塊是執行日誌　按「▶ 執行比對」開始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點任何一列，右側會顯示該料件的 Footprint、RC/EC、P/N、比對狀態　未命中的列顯示「— 無命中 —」，直接在格子裡補料號　上方 chip 可篩選：全部 / 未命中 / NC / 替代料 / Knowledge　底色與輸出 Excel 一致，編輯與色底可以並存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列出所有命中 Knowledge 的料件與對應注意事項　命中條件三選一：P/N 相同、品名是描述的子字串、包裝是描述的子字串　判斷不適用就按「✕ 忽略此筆」　忽略後該列不會標橘底，Note 也不會寫進 Excel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對應輸出 Excel 的 rows 3–8　PCB板號 / PCB料號 / RC/EC NO. / PCB供應商 / PCB 規格　發行序號 / 發行(改版)日期 / 目前版次 / Support IC Type　留空就是空白，不影響其他功能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確認輸出路徑後按「▶ 產出 Excel」　「開啟輸出資料夾」會直接叫出檔案總管　底部動作列隨時可以產出，不必回到這一頁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雙面板　TOP / BOT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上方「位號未知」chip 可以只看有問題的列　該列淡紅底，並在 Location-Bot 欄寫出是哪幾個位號　Excel 的 H:O 欄也會寫同一段紅字警告　執行日誌會列出受影響的 Item、Qty 與位號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位號對照表：xlsx 為主．txt 為輔；Excel 欄位：維持 15 欄（A:O）；PCB 圖片：檔名含 top / bot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看懂產出的 Excel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輸出 Excel 的色底規則與替代料拆列。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四類候選都依「最後修改時間」排序，最新的排第一個並預設選中。 這些子資料夾都是選用的，找不到就退回程式所在資料夾。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疑難排解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雙擊 .bat 一閃就關　雙擊 .py 沒反應 / 閃退　C 案瀏覽器打不開　D 案視窗開不起來　說找不到零件資料庫　產出的檔案別的工具打不開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屬性式比對　NC(...) 認得出來　未命中會說原因　雙面板 TOP / BOT　SM8008 命中 26 → 45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A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27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80"/>
                </a:solidFill>
              </a:rPr>
              <a:t>BOM Matcher v0.09 操作 SOP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766560" y="4727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80"/>
                </a:solidFill>
              </a:rPr>
              <a:t>2026-10-19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8.xml"/><Relationship Id="rId13" Type="http://schemas.openxmlformats.org/officeDocument/2006/relationships/slide" Target="slide9.xml"/><Relationship Id="rId14" Type="http://schemas.openxmlformats.org/officeDocument/2006/relationships/slide" Target="slide9.xml"/><Relationship Id="rId15" Type="http://schemas.openxmlformats.org/officeDocument/2006/relationships/slide" Target="slide10.xml"/><Relationship Id="rId16" Type="http://schemas.openxmlformats.org/officeDocument/2006/relationships/slide" Target="slide10.xml"/><Relationship Id="rId17" Type="http://schemas.openxmlformats.org/officeDocument/2006/relationships/slide" Target="slide11.xml"/><Relationship Id="rId18" Type="http://schemas.openxmlformats.org/officeDocument/2006/relationships/slide" Target="slide11.xml"/><Relationship Id="rId19" Type="http://schemas.openxmlformats.org/officeDocument/2006/relationships/slide" Target="slide12.xml"/><Relationship Id="rId20" Type="http://schemas.openxmlformats.org/officeDocument/2006/relationships/slide" Target="slide12.xml"/><Relationship Id="rId21" Type="http://schemas.openxmlformats.org/officeDocument/2006/relationships/slide" Target="slide13.xml"/><Relationship Id="rId22" Type="http://schemas.openxmlformats.org/officeDocument/2006/relationships/slide" Target="slide13.xml"/><Relationship Id="rId23" Type="http://schemas.openxmlformats.org/officeDocument/2006/relationships/slide" Target="slide14.xml"/><Relationship Id="rId24" Type="http://schemas.openxmlformats.org/officeDocument/2006/relationships/slide" Target="slide14.xml"/><Relationship Id="rId25" Type="http://schemas.openxmlformats.org/officeDocument/2006/relationships/slide" Target="slide15.xml"/><Relationship Id="rId26" Type="http://schemas.openxmlformats.org/officeDocument/2006/relationships/slide" Target="slide15.xml"/><Relationship Id="rId27" Type="http://schemas.openxmlformats.org/officeDocument/2006/relationships/slide" Target="slide16.xml"/><Relationship Id="rId28" Type="http://schemas.openxmlformats.org/officeDocument/2006/relationships/slide" Target="slide16.xml"/><Relationship Id="rId29" Type="http://schemas.openxmlformats.org/officeDocument/2006/relationships/slide" Target="slide17.xml"/><Relationship Id="rId30" Type="http://schemas.openxmlformats.org/officeDocument/2006/relationships/slide" Target="slide17.xml"/><Relationship Id="rId31" Type="http://schemas.openxmlformats.org/officeDocument/2006/relationships/slide" Target="slide18.xml"/><Relationship Id="rId32" Type="http://schemas.openxmlformats.org/officeDocument/2006/relationships/slide" Target="slide18.xml"/><Relationship Id="rId33" Type="http://schemas.openxmlformats.org/officeDocument/2006/relationships/slide" Target="slide19.xml"/><Relationship Id="rId34" Type="http://schemas.openxmlformats.org/officeDocument/2006/relationships/slide" Target="slide19.xml"/><Relationship Id="rId35" Type="http://schemas.openxmlformats.org/officeDocument/2006/relationships/slide" Target="slide20.xml"/><Relationship Id="rId36" Type="http://schemas.openxmlformats.org/officeDocument/2006/relationships/slide" Target="slide20.xml"/><Relationship Id="rId37" Type="http://schemas.openxmlformats.org/officeDocument/2006/relationships/slide" Target="slide21.xml"/><Relationship Id="rId38" Type="http://schemas.openxmlformats.org/officeDocument/2006/relationships/slide" Target="slide21.xml"/><Relationship Id="rId39" Type="http://schemas.openxmlformats.org/officeDocument/2006/relationships/slide" Target="slide22.xml"/><Relationship Id="rId40" Type="http://schemas.openxmlformats.org/officeDocument/2006/relationships/slide" Target="slide22.xml"/><Relationship Id="rId41" Type="http://schemas.openxmlformats.org/officeDocument/2006/relationships/slide" Target="slide23.xml"/><Relationship Id="rId42" Type="http://schemas.openxmlformats.org/officeDocument/2006/relationships/slide" Target="slide23.xml"/><Relationship Id="rId43" Type="http://schemas.openxmlformats.org/officeDocument/2006/relationships/slide" Target="slide24.xml"/><Relationship Id="rId44" Type="http://schemas.openxmlformats.org/officeDocument/2006/relationships/slide" Target="slide24.xml"/><Relationship Id="rId45" Type="http://schemas.openxmlformats.org/officeDocument/2006/relationships/slide" Target="slide25.xml"/><Relationship Id="rId46" Type="http://schemas.openxmlformats.org/officeDocument/2006/relationships/slide" Target="slide25.xml"/><Relationship Id="rId47" Type="http://schemas.openxmlformats.org/officeDocument/2006/relationships/slide" Target="slide26.xml"/><Relationship Id="rId48" Type="http://schemas.openxmlformats.org/officeDocument/2006/relationships/slide" Target="slide26.xml"/><Relationship Id="rId49" Type="http://schemas.openxmlformats.org/officeDocument/2006/relationships/slide" Target="slide27.xml"/><Relationship Id="rId50" Type="http://schemas.openxmlformats.org/officeDocument/2006/relationships/slide" Target="slide27.xml"/><Relationship Id="rId51" Type="http://schemas.openxmlformats.org/officeDocument/2006/relationships/slide" Target="slide28.xml"/><Relationship Id="rId52" Type="http://schemas.openxmlformats.org/officeDocument/2006/relationships/slide" Target="slide28.xml"/><Relationship Id="rId53" Type="http://schemas.openxmlformats.org/officeDocument/2006/relationships/slideLayout" Target="../slideLayouts/slideLayout4.xml"/><Relationship Id="rId5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0-1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1-1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2-1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3-1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7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8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9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21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36192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BOM Matcher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4871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5A0F5"/>
                </a:solidFill>
              </a:rPr>
              <a:t>操作 SOP　v0.09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86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AA0AE"/>
                </a:solidFill>
              </a:rPr>
              <a:t>ADATA Technology　2026-10-19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AA0AE"/>
                </a:solidFill>
              </a:rPr>
              <a:t>Altium Text BOM ＋ 零件資料庫 → ADATA E-BOM Excel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16152"/>
            <a:ext cx="146304" cy="146304"/>
          </a:xfrm>
          <a:prstGeom prst="ellipse">
            <a:avLst/>
          </a:prstGeom>
          <a:solidFill>
            <a:srgbClr val="E8B931"/>
          </a:solidFill>
          <a:ln w="12700">
            <a:solidFill>
              <a:srgbClr val="E8B9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216152"/>
            <a:ext cx="146304" cy="146304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216152"/>
            <a:ext cx="146304" cy="146304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目錄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　這個工具在做什麼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3913632" y="93268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4F46E5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五個輸入，一個輸出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913632" y="126187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087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三種介面怎麼選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913632" y="150876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556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4F46E5"/>
                </a:solidFill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　安裝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13632" y="175564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4F46E5"/>
                </a:solidFill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08483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兩種交付包怎麼選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913632" y="208483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3317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安裝步驟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913632" y="233172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5786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4F46E5"/>
                </a:solidFill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　C 案　瀏覽器介面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913632" y="257860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4F46E5"/>
                </a:solidFill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90779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步驟 1　檔案設定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913632" y="290779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1546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1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檔案不在預設清單裡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913632" y="315468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40156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步驟 2　比對結果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913632" y="340156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2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64845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2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步驟 3　產出 E-BOM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913632" y="364845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2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8953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4F46E5"/>
                </a:solidFill>
                <a:hlinkClick r:id="rId2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　D 案　原生視窗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913632" y="389534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4F46E5"/>
                </a:solidFill>
                <a:hlinkClick r:id="rId2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22452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2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步驟 1　檔案設定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913632" y="422452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2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15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93268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2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步驟 2　比對結果與人工修正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119872" y="93268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2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663440" y="117957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2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步驟 3　Knowledge 命中確認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119872" y="117957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3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17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663440" y="142646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3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步驟 4　表頭資訊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119872" y="142646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3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18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663440" y="167335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3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步驟 5　產出 E-BOM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119872" y="167335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3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663440" y="19202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4F46E5"/>
                </a:solidFill>
                <a:hlinkClick r:id="rId3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　雙面板　TOP / BOT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119872" y="192024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4F46E5"/>
                </a:solidFill>
                <a:hlinkClick r:id="rId3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663440" y="224942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3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位號查不到面別時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8119872" y="224942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3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663440" y="249631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3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雙面板的三個規則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119872" y="249631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4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22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663440" y="2743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4F46E5"/>
                </a:solidFill>
                <a:hlinkClick r:id="rId4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　看懂產出的 Excel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8119872" y="27432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4F46E5"/>
                </a:solidFill>
                <a:hlinkClick r:id="rId4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23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663440" y="307238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4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色底規則與替代料拆列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8119872" y="30723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4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24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663440" y="33192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4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資料夾規則與自動偵測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119872" y="331927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4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25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4663440" y="35661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4F46E5"/>
                </a:solidFill>
                <a:hlinkClick r:id="rId4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　疑難排解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8119872" y="3566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4F46E5"/>
                </a:solidFill>
                <a:hlinkClick r:id="rId4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26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4663440" y="389534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4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常見問題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8119872" y="389534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5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27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4663440" y="414223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5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v0.09 的重點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119872" y="414223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5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28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80"/>
                </a:solidFill>
              </a:rPr>
              <a:t>點選任一列可直接跳到該頁；每頁右下角的「☰ 目錄」可以回到這裡。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8988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D86F0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這個工具在做什麼</a:t>
            </a:r>
            <a:endParaRPr lang="en-US" sz="3600" dirty="0"/>
          </a:p>
        </p:txBody>
      </p:sp>
      <p:sp>
        <p:nvSpPr>
          <p:cNvPr id="4" name="Text 2">
            <a:hlinkClick r:id="rId1" tooltip="" action="ppaction://hlinksldjump"/>
          </p:cNvPr>
          <p:cNvSpPr txBox="1"/>
          <p:nvPr/>
        </p:nvSpPr>
        <p:spPr>
          <a:xfrm>
            <a:off x="74066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C9C5F8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回目錄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五個輸入，一個輸出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sp>
        <p:nvSpPr>
          <p:cNvPr id="4" name="in0"/>
          <p:cNvSpPr/>
          <p:nvPr/>
        </p:nvSpPr>
        <p:spPr>
          <a:xfrm>
            <a:off x="457200" y="1005840"/>
            <a:ext cx="1847088" cy="1143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161288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097280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C2E"/>
                </a:solidFill>
              </a:rPr>
              <a:t>Text BOM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41732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180"/>
                </a:solidFill>
              </a:rPr>
              <a:t>Altium 匯出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180"/>
                </a:solidFill>
              </a:rPr>
              <a:t>*.txt 或 *.BOM</a:t>
            </a:r>
            <a:endParaRPr lang="en-US" sz="1000" dirty="0"/>
          </a:p>
        </p:txBody>
      </p:sp>
      <p:sp>
        <p:nvSpPr>
          <p:cNvPr id="8" name="in1"/>
          <p:cNvSpPr/>
          <p:nvPr/>
        </p:nvSpPr>
        <p:spPr>
          <a:xfrm>
            <a:off x="2478024" y="1005840"/>
            <a:ext cx="1847088" cy="1143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161288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79776" y="1097280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C2E"/>
                </a:solidFill>
              </a:rPr>
              <a:t>零件資料庫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141732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180"/>
                </a:solidFill>
              </a:rPr>
              <a:t>P/N + Description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180"/>
                </a:solidFill>
              </a:rPr>
              <a:t>*.xlsx</a:t>
            </a:r>
            <a:endParaRPr lang="en-US" sz="1000" dirty="0"/>
          </a:p>
        </p:txBody>
      </p:sp>
      <p:sp>
        <p:nvSpPr>
          <p:cNvPr id="12" name="in2"/>
          <p:cNvSpPr/>
          <p:nvPr/>
        </p:nvSpPr>
        <p:spPr>
          <a:xfrm>
            <a:off x="4498848" y="1005840"/>
            <a:ext cx="1847088" cy="1143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1161288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097280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C2E"/>
                </a:solidFill>
              </a:rPr>
              <a:t>Knowledge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141732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180"/>
                </a:solidFill>
              </a:rPr>
              <a:t>品名 / 包裝 / 注意事項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180"/>
                </a:solidFill>
              </a:rPr>
              <a:t>*.xlsx</a:t>
            </a:r>
            <a:endParaRPr lang="en-US" sz="1000" dirty="0"/>
          </a:p>
        </p:txBody>
      </p:sp>
      <p:sp>
        <p:nvSpPr>
          <p:cNvPr id="16" name="in3"/>
          <p:cNvSpPr/>
          <p:nvPr/>
        </p:nvSpPr>
        <p:spPr>
          <a:xfrm>
            <a:off x="6519672" y="1005840"/>
            <a:ext cx="1847088" cy="1143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47688" y="1161288"/>
            <a:ext cx="118872" cy="118872"/>
          </a:xfrm>
          <a:prstGeom prst="ellipse">
            <a:avLst/>
          </a:prstGeom>
          <a:solidFill>
            <a:srgbClr val="6B7180"/>
          </a:solidFill>
          <a:ln w="12700">
            <a:solidFill>
              <a:srgbClr val="6B718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21424" y="1097280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C2E"/>
                </a:solidFill>
              </a:rPr>
              <a:t>PCB 圖片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47688" y="141732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180"/>
                </a:solidFill>
              </a:rPr>
              <a:t>pcb.jpg / png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180"/>
                </a:solidFill>
              </a:rPr>
              <a:t>嵌入 rows 9-35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10800000">
            <a:off x="4370832" y="2331720"/>
            <a:ext cx="402336" cy="274320"/>
          </a:xfrm>
          <a:prstGeom prst="triangl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out"/>
          <p:cNvSpPr/>
          <p:nvPr/>
        </p:nvSpPr>
        <p:spPr>
          <a:xfrm>
            <a:off x="457200" y="2724912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EEF0FF"/>
          </a:solidFill>
          <a:ln w="12700">
            <a:solidFill>
              <a:srgbClr val="C9CD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2834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</a:rPr>
              <a:t>ADATA E-BOM 格式 Excel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31729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52"/>
                </a:solidFill>
              </a:rPr>
              <a:t>表頭、PCB 圖、BOM 明細、Total、表尾一次做好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7673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180"/>
                </a:solidFill>
              </a:rPr>
              <a:t>三種介面（CLI / C 案 / D 案）共用同一份核心邏輯，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180"/>
                </a:solidFill>
              </a:rPr>
              <a:t>同一份輸入產出的 Excel 完全相同。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三種介面怎麼選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sp>
        <p:nvSpPr>
          <p:cNvPr id="4" name="card0"/>
          <p:cNvSpPr/>
          <p:nvPr/>
        </p:nvSpPr>
        <p:spPr>
          <a:xfrm>
            <a:off x="457200" y="987552"/>
            <a:ext cx="2679192" cy="3200400"/>
          </a:xfrm>
          <a:prstGeom prst="roundRect">
            <a:avLst>
              <a:gd name="adj" fmla="val 2048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6B71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10789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run_CLI.bat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137160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7F5"/>
                </a:solidFill>
              </a:rPr>
              <a:t>命令列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856232"/>
            <a:ext cx="23500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不需要 streamlit / pywebview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最快、最穩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不能人工修正，直接出檔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第一次安裝完建議先跑這支確認環境</a:t>
            </a:r>
            <a:endParaRPr lang="en-US" sz="1100" dirty="0"/>
          </a:p>
        </p:txBody>
      </p:sp>
      <p:sp>
        <p:nvSpPr>
          <p:cNvPr id="9" name="card1"/>
          <p:cNvSpPr/>
          <p:nvPr/>
        </p:nvSpPr>
        <p:spPr>
          <a:xfrm>
            <a:off x="3319272" y="987552"/>
            <a:ext cx="2679192" cy="3200400"/>
          </a:xfrm>
          <a:prstGeom prst="roundRect">
            <a:avLst>
              <a:gd name="adj" fmla="val 2048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9272" y="987552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65576" y="10789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run_C_streamlit.bat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65576" y="137160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7F5"/>
                </a:solidFill>
              </a:rPr>
              <a:t>C 案．瀏覽器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483864" y="1856232"/>
            <a:ext cx="23500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在瀏覽器操作，localhost:8601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可編輯表格後再產出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色底需切到「色底檢視」頁籤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使用期間不能關掉黑色主控台</a:t>
            </a:r>
            <a:endParaRPr lang="en-US" sz="1100" dirty="0"/>
          </a:p>
        </p:txBody>
      </p:sp>
      <p:sp>
        <p:nvSpPr>
          <p:cNvPr id="14" name="card2"/>
          <p:cNvSpPr/>
          <p:nvPr/>
        </p:nvSpPr>
        <p:spPr>
          <a:xfrm>
            <a:off x="6181344" y="987552"/>
            <a:ext cx="2679192" cy="3200400"/>
          </a:xfrm>
          <a:prstGeom prst="roundRect">
            <a:avLst>
              <a:gd name="adj" fmla="val 2048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987552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2F8F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27648" y="10789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run_D_webview.bat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137160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7F5"/>
                </a:solidFill>
              </a:rPr>
              <a:t>D 案．原生視窗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1856232"/>
            <a:ext cx="23500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雙擊即開，不需要瀏覽器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三欄式，右側即時顯示明細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色底與編輯可以並存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篩選 chip：未命中 / NC / 替代料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8988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D86F0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安裝</a:t>
            </a:r>
            <a:endParaRPr lang="en-US" sz="3600" dirty="0"/>
          </a:p>
        </p:txBody>
      </p:sp>
      <p:sp>
        <p:nvSpPr>
          <p:cNvPr id="4" name="Text 2">
            <a:hlinkClick r:id="rId1" tooltip="" action="ppaction://hlinksldjump"/>
          </p:cNvPr>
          <p:cNvSpPr txBox="1"/>
          <p:nvPr/>
        </p:nvSpPr>
        <p:spPr>
          <a:xfrm>
            <a:off x="74066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C9C5F8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回目錄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兩種交付包怎麼選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sp>
        <p:nvSpPr>
          <p:cNvPr id="4" name="cmp0"/>
          <p:cNvSpPr/>
          <p:nvPr/>
        </p:nvSpPr>
        <p:spPr>
          <a:xfrm>
            <a:off x="457200" y="987552"/>
            <a:ext cx="4023360" cy="2606040"/>
          </a:xfrm>
          <a:prstGeom prst="roundRect">
            <a:avLst>
              <a:gd name="adj" fmla="val 2105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088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完整離線安裝版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399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7F5"/>
                </a:solidFill>
              </a:rPr>
              <a:t>約 112 MB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883664"/>
            <a:ext cx="3621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252"/>
                </a:solidFill>
              </a:rPr>
              <a:t>自帶 Python 安裝檔與全部套件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252"/>
                </a:solidFill>
              </a:rPr>
              <a:t>安裝過程完全不需要網路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252"/>
                </a:solidFill>
              </a:rPr>
              <a:t>產線機器、連不上外網的環境用這包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252"/>
                </a:solidFill>
              </a:rPr>
              <a:t>多了 python\ 與 wheels\ 兩個資料夾</a:t>
            </a:r>
            <a:endParaRPr lang="en-US" sz="1150" dirty="0"/>
          </a:p>
        </p:txBody>
      </p:sp>
      <p:sp>
        <p:nvSpPr>
          <p:cNvPr id="9" name="cmp1"/>
          <p:cNvSpPr/>
          <p:nvPr/>
        </p:nvSpPr>
        <p:spPr>
          <a:xfrm>
            <a:off x="4663440" y="987552"/>
            <a:ext cx="4023360" cy="2606040"/>
          </a:xfrm>
          <a:prstGeom prst="roundRect">
            <a:avLst>
              <a:gd name="adj" fmla="val 2105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87552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6B71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088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精簡版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399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7F5"/>
                </a:solidFill>
              </a:rPr>
              <a:t>約 0.2 MB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1883664"/>
            <a:ext cx="3621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252"/>
                </a:solidFill>
              </a:rPr>
              <a:t>安裝時要連得上 python.org 與 PyPI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252"/>
                </a:solidFill>
              </a:rPr>
              <a:t>檔案小，好傳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252"/>
                </a:solidFill>
              </a:rPr>
              <a:t>辦公室機器用這包就夠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252"/>
                </a:solidFill>
              </a:rPr>
              <a:t>裝不起來時再改用完整離線版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8221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180"/>
                </a:solidFill>
              </a:rPr>
              <a:t>兩包的程式本體與範例資料完全相同，差別只在「套件怎麼來」。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安裝步驟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9875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</a:rPr>
              <a:t>解壓縮到任意資料夾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28016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252"/>
                </a:solidFill>
              </a:rPr>
              <a:t>路徑不限。程式一律以「自己所在的資料夾」為工作目錄，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252"/>
                </a:solidFill>
              </a:rPr>
              <a:t>不必固定放哪裡。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56816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19202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</a:rPr>
              <a:t>執行「安裝.bat」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212848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252"/>
                </a:solidFill>
              </a:rPr>
              <a:t>已經有 Python 會自動跳過，直接裝套件。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89504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28529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</a:rPr>
              <a:t>看到「請重開視窗」就再跑一次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3145536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252"/>
                </a:solidFill>
              </a:rPr>
              <a:t>Python 剛裝好時 PATH 還沒生效，關掉視窗再執行一次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252"/>
                </a:solidFill>
              </a:rPr>
              <a:t>「安裝.bat」把套件裝完。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22192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78561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</a:rPr>
              <a:t>確認三行都是 [OK]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07822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252"/>
                </a:solidFill>
              </a:rPr>
              <a:t>[OK] 核心 / [OK] C 案 / [OK] D 案。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252"/>
                </a:solidFill>
              </a:rPr>
              <a:t>出現 [--] 表示該介面不能用，其餘仍可運作。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8988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D86F0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 案　瀏覽器介面</a:t>
            </a:r>
            <a:endParaRPr lang="en-US" sz="3600" dirty="0"/>
          </a:p>
        </p:txBody>
      </p:sp>
      <p:sp>
        <p:nvSpPr>
          <p:cNvPr id="4" name="Text 2">
            <a:hlinkClick r:id="rId1" tooltip="" action="ppaction://hlinksldjump"/>
          </p:cNvPr>
          <p:cNvSpPr txBox="1"/>
          <p:nvPr/>
        </p:nvSpPr>
        <p:spPr>
          <a:xfrm>
            <a:off x="74066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C9C5F8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回目錄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步驟 1　檔案設定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C_01_fil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55684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55684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四個檔案由程式自動偵測，候選依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最後修改時間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排序，最新的排第一個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偵測是看「內容」不是看檔名 —— 把產出的 E-BOM 丟回資料夾不會被誤認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不對就按右邊的「瀏覽…」自己選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輸出路徑預設在 output\，副檔名一律強制 .xlsx</a:t>
            </a:r>
            <a:endParaRPr lang="en-US" sz="1100" dirty="0"/>
          </a:p>
        </p:txBody>
      </p:sp>
      <p:sp>
        <p:nvSpPr>
          <p:cNvPr id="7" name="warn"/>
          <p:cNvSpPr/>
          <p:nvPr/>
        </p:nvSpPr>
        <p:spPr>
          <a:xfrm>
            <a:off x="6172200" y="338328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6EC"/>
          </a:solidFill>
          <a:ln w="12700">
            <a:solidFill>
              <a:srgbClr val="F0D3A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0216" y="3529584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73952" y="34655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413"/>
                </a:solidFill>
              </a:rPr>
              <a:t>注意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300216" y="3730752"/>
            <a:ext cx="2258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確認 Text BOM 是你這次要跑的那一支。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選錯檔案是最常見的失誤。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檔案不在預設清單裡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C_02_brows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55684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55684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展開「📂 目錄瀏覽器」就能自己翻資料夾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左邊是子資料夾，右邊是符合副檔名的檔案，後面附最後修改日期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「⬆ 上一層」往上、「🏠 程式目錄」跳回程式所在位置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點檔名即選取，上方的下拉選單會跟著換</a:t>
            </a:r>
            <a:endParaRPr lang="en-US" sz="1100" dirty="0"/>
          </a:p>
        </p:txBody>
      </p:sp>
      <p:sp>
        <p:nvSpPr>
          <p:cNvPr id="7" name="warn"/>
          <p:cNvSpPr/>
          <p:nvPr/>
        </p:nvSpPr>
        <p:spPr>
          <a:xfrm>
            <a:off x="6172200" y="338328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6EC"/>
          </a:solidFill>
          <a:ln w="12700">
            <a:solidFill>
              <a:srgbClr val="F0D3A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0216" y="3529584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73952" y="34655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413"/>
                </a:solidFill>
              </a:rPr>
              <a:t>注意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300216" y="3730752"/>
            <a:ext cx="2258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「瀏覽…」開的是 Windows 原生對話框，偶爾會躲在瀏覽器視窗後面。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找不到就改用目錄瀏覽器，功能一樣。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步驟 2　比對結果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C_03_row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55684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55684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上方六個數字：總項次 / 輸出列數 / 命中 / 未命中 / Knowledge / Total Qty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表格可直接改 P/N、RC/EC、Description、Qty、Location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改完按「儲存修改」才會帶進產出的 Excel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狀態欄的 🟠🟡🟢⚪ 對應輸出 Excel 的橘／黃／綠底</a:t>
            </a:r>
            <a:endParaRPr lang="en-US" sz="1100" dirty="0"/>
          </a:p>
        </p:txBody>
      </p:sp>
      <p:sp>
        <p:nvSpPr>
          <p:cNvPr id="7" name="warn"/>
          <p:cNvSpPr/>
          <p:nvPr/>
        </p:nvSpPr>
        <p:spPr>
          <a:xfrm>
            <a:off x="6172200" y="338328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6EC"/>
          </a:solidFill>
          <a:ln w="12700">
            <a:solidFill>
              <a:srgbClr val="F0D3A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0216" y="3529584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73952" y="34655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413"/>
                </a:solidFill>
              </a:rPr>
              <a:t>注意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300216" y="3730752"/>
            <a:ext cx="2258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C 案的「✎ 編輯」頁籤不顯示色底 —— 這是 Streamlit 的限制。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要看色底請切到「🎨 色底檢視」頁籤（唯讀）。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步驟 3　產出 E-BOM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C_04_expor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55684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55684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按「▶ 產出 Excel」，檔案直接寫到輸出路徑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下方日誌會列出 PCB 圖片尺寸、實際輸出路徑、項數與 Total Qty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「⤓ 下載 xlsx」可另存一份到瀏覽器的下載目錄</a:t>
            </a:r>
            <a:endParaRPr lang="en-US" sz="1100" dirty="0"/>
          </a:p>
        </p:txBody>
      </p:sp>
      <p:sp>
        <p:nvSpPr>
          <p:cNvPr id="7" name="warn"/>
          <p:cNvSpPr/>
          <p:nvPr/>
        </p:nvSpPr>
        <p:spPr>
          <a:xfrm>
            <a:off x="6172200" y="338328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6EC"/>
          </a:solidFill>
          <a:ln w="12700">
            <a:solidFill>
              <a:srgbClr val="F0D3A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0216" y="3529584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73952" y="34655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413"/>
                </a:solidFill>
              </a:rPr>
              <a:t>注意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300216" y="3730752"/>
            <a:ext cx="2258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最後一行的「113 項（含PCB）→ 138 列」要對得上預期。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列數比項數多，是因為替代料被拆成獨立列。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8988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D86F0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 案　原生視窗</a:t>
            </a:r>
            <a:endParaRPr lang="en-US" sz="3600" dirty="0"/>
          </a:p>
        </p:txBody>
      </p:sp>
      <p:sp>
        <p:nvSpPr>
          <p:cNvPr id="4" name="Text 2">
            <a:hlinkClick r:id="rId1" tooltip="" action="ppaction://hlinksldjump"/>
          </p:cNvPr>
          <p:cNvSpPr txBox="1"/>
          <p:nvPr/>
        </p:nvSpPr>
        <p:spPr>
          <a:xfrm>
            <a:off x="74066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C9C5F8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回目錄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步驟 1　檔案設定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D_01_fi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4854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4854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欄位與 C 案相同，每個都有「瀏覽…」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位號 TOP/BOT 對照表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：選填，給了就切換成雙面板模式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PCB 圖片（BOT 面）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：雙面板時提供兩張，圖片區自動切成上下兩半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「替代料拆列」打勾時一列只有一個 P/N；取消勾選會回到 a;b 單列格式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下方黑色區塊是執行日誌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按「▶ 執行比對」開始</a:t>
            </a:r>
            <a:endParaRPr lang="en-US" sz="1100" dirty="0"/>
          </a:p>
        </p:txBody>
      </p:sp>
      <p:sp>
        <p:nvSpPr>
          <p:cNvPr id="7" name="warn"/>
          <p:cNvSpPr/>
          <p:nvPr/>
        </p:nvSpPr>
        <p:spPr>
          <a:xfrm>
            <a:off x="6172200" y="338328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6EC"/>
          </a:solidFill>
          <a:ln w="12700">
            <a:solidFill>
              <a:srgbClr val="F0D3A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0216" y="3529584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73952" y="34655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413"/>
                </a:solidFill>
              </a:rPr>
              <a:t>注意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300216" y="3730752"/>
            <a:ext cx="2258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標題列會標出啟動用的 .bat：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BOM Matcher v0.08　[run_D_webview.bat]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步驟 2　比對結果與人工修正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D_02_row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4854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4854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點任何一列，右側會顯示該料件的 Footprint、RC/EC、P/N、比對狀態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未命中的列顯示「— 無命中 —」，直接在格子裡補料號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上方 chip 可篩選：全部 / 未命中 / NC / 替代料 / Knowledge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底色與輸出 Excel 一致，編輯與色底可以並存</a:t>
            </a:r>
            <a:endParaRPr lang="en-US" sz="1100" dirty="0"/>
          </a:p>
        </p:txBody>
      </p:sp>
      <p:sp>
        <p:nvSpPr>
          <p:cNvPr id="7" name="warn"/>
          <p:cNvSpPr/>
          <p:nvPr/>
        </p:nvSpPr>
        <p:spPr>
          <a:xfrm>
            <a:off x="6172200" y="338328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6EC"/>
          </a:solidFill>
          <a:ln w="12700">
            <a:solidFill>
              <a:srgbClr val="F0D3A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0216" y="3529584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73952" y="34655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413"/>
                </a:solidFill>
              </a:rPr>
              <a:t>注意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300216" y="3730752"/>
            <a:ext cx="2258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改了 Qty，右上角的 Total Qty 會立刻跟著變，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可以用來確認改對了。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步驟 3　Knowledge 命中確認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D_03_knowle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4854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4854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列出所有命中 Knowledge 的料件與對應注意事項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命中條件三選一：P/N 相同、品名是描述的子字串、包裝是描述的子字串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判斷不適用就按「✕ 忽略此筆」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忽略後該列不會標橘底，Note 也不會寫進 Excel</a:t>
            </a:r>
            <a:endParaRPr lang="en-US" sz="1100" dirty="0"/>
          </a:p>
        </p:txBody>
      </p:sp>
      <p:sp>
        <p:nvSpPr>
          <p:cNvPr id="7" name="warn"/>
          <p:cNvSpPr/>
          <p:nvPr/>
        </p:nvSpPr>
        <p:spPr>
          <a:xfrm>
            <a:off x="6172200" y="338328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6EC"/>
          </a:solidFill>
          <a:ln w="12700">
            <a:solidFill>
              <a:srgbClr val="F0D3A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0216" y="3529584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73952" y="34655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413"/>
                </a:solidFill>
              </a:rPr>
              <a:t>注意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300216" y="3730752"/>
            <a:ext cx="2258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包裝比對是子字串，可能誤命中。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例如品名「TVS」會命中講 SOD-523 的條目，要人工判斷。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步驟 4　表頭資訊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D_04_hea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4854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4854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對應輸出 Excel 的 rows 3–8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PCB板號 / PCB料號 / RC/EC NO. / PCB供應商 / PCB 規格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發行序號 / 發行(改版)日期 / 目前版次 / Support IC Type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留空就是空白，不影響其他功能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步驟 5　產出 E-BOM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D_05_ex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4854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4854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確認輸出路徑後按「▶ 產出 Excel」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「開啟輸出資料夾」會直接叫出檔案總管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底部動作列隨時可以產出，不必回到這一頁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8988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D86F0"/>
                </a:solidFill>
              </a:rPr>
              <a:t>05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雙面板　TOP / BOT</a:t>
            </a:r>
            <a:endParaRPr lang="en-US" sz="3600" dirty="0"/>
          </a:p>
        </p:txBody>
      </p:sp>
      <p:sp>
        <p:nvSpPr>
          <p:cNvPr id="4" name="Text 2">
            <a:hlinkClick r:id="rId1" tooltip="" action="ppaction://hlinksldjump"/>
          </p:cNvPr>
          <p:cNvSpPr txBox="1"/>
          <p:nvPr/>
        </p:nvSpPr>
        <p:spPr>
          <a:xfrm>
            <a:off x="74066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C9C5F8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回目錄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位號查不到面別時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D_06_unkn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4854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4854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上方「位號未知」chip 可以只看有問題的列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該列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淡紅底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，並在 Location-Bot 欄寫出是哪幾個位號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Excel 的 H:O 欄也會寫同一段紅字警告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執行日誌會列出受影響的 Item、Qty 與位號</a:t>
            </a:r>
            <a:endParaRPr lang="en-US" sz="1100" dirty="0"/>
          </a:p>
        </p:txBody>
      </p:sp>
      <p:sp>
        <p:nvSpPr>
          <p:cNvPr id="7" name="warn"/>
          <p:cNvSpPr/>
          <p:nvPr/>
        </p:nvSpPr>
        <p:spPr>
          <a:xfrm>
            <a:off x="6172200" y="338328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6EC"/>
          </a:solidFill>
          <a:ln w="12700">
            <a:solidFill>
              <a:srgbClr val="F0D3A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0216" y="3529584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73952" y="34655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413"/>
                </a:solidFill>
              </a:rPr>
              <a:t>注意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300216" y="3730752"/>
            <a:ext cx="2258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Item 77 的 4 個位號全部查不到 —— 若靜默略過，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TOP 和 BOT 都會是 0，4 顆電阻等於從兩面同時消失。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雙面板的三個規則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sp>
        <p:nvSpPr>
          <p:cNvPr id="4" name="card0"/>
          <p:cNvSpPr/>
          <p:nvPr/>
        </p:nvSpPr>
        <p:spPr>
          <a:xfrm>
            <a:off x="457200" y="987552"/>
            <a:ext cx="2679192" cy="3200400"/>
          </a:xfrm>
          <a:prstGeom prst="roundRect">
            <a:avLst>
              <a:gd name="adj" fmla="val 2048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6B71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10789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位號對照表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137160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7F5"/>
                </a:solidFill>
              </a:rPr>
              <a:t>xlsx 為主．txt 為輔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856232"/>
            <a:ext cx="23500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第一欄＝位號，第二欄＝面別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不看表頭名稱（實際檔案 TXT 是 T/B、XLSX 是 T_B）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TOP/T/BOT/B/BOTTOM 都接受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放程式目錄或 ExcelDB 底下</a:t>
            </a:r>
            <a:endParaRPr lang="en-US" sz="1100" dirty="0"/>
          </a:p>
        </p:txBody>
      </p:sp>
      <p:sp>
        <p:nvSpPr>
          <p:cNvPr id="9" name="card1"/>
          <p:cNvSpPr/>
          <p:nvPr/>
        </p:nvSpPr>
        <p:spPr>
          <a:xfrm>
            <a:off x="3319272" y="987552"/>
            <a:ext cx="2679192" cy="3200400"/>
          </a:xfrm>
          <a:prstGeom prst="roundRect">
            <a:avLst>
              <a:gd name="adj" fmla="val 2048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9272" y="987552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65576" y="10789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Excel 欄位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65576" y="137160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7F5"/>
                </a:solidFill>
              </a:rPr>
              <a:t>維持 15 欄（A:O）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483864" y="1856232"/>
            <a:ext cx="23500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F＝Location-Top Layer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G＝Location-Bottom Layer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H:O＝Knowledge Note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Qty 不變，TOP+BOT 各自計數</a:t>
            </a:r>
            <a:endParaRPr lang="en-US" sz="1100" dirty="0"/>
          </a:p>
        </p:txBody>
      </p:sp>
      <p:sp>
        <p:nvSpPr>
          <p:cNvPr id="14" name="card2"/>
          <p:cNvSpPr/>
          <p:nvPr/>
        </p:nvSpPr>
        <p:spPr>
          <a:xfrm>
            <a:off x="6181344" y="987552"/>
            <a:ext cx="2679192" cy="3200400"/>
          </a:xfrm>
          <a:prstGeom prst="roundRect">
            <a:avLst>
              <a:gd name="adj" fmla="val 2048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987552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2F8F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27648" y="10789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PCB 圖片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137160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7F5"/>
                </a:solidFill>
              </a:rPr>
              <a:t>檔名含 top / bot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1856232"/>
            <a:ext cx="23500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pcb_top.jpg ＋ pcb_bot.jpg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圖片區切成上下兩半（rows 9-21 / 22-35）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只有一張圖就不切，維持整塊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沒有對照表＝單面板，與 v0.08 相同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8988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D86F0"/>
                </a:solidFill>
              </a:rPr>
              <a:t>06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看懂產出的 Excel</a:t>
            </a:r>
            <a:endParaRPr lang="en-US" sz="3600" dirty="0"/>
          </a:p>
        </p:txBody>
      </p:sp>
      <p:sp>
        <p:nvSpPr>
          <p:cNvPr id="4" name="Text 2">
            <a:hlinkClick r:id="rId1" tooltip="" action="ppaction://hlinksldjump"/>
          </p:cNvPr>
          <p:cNvSpPr txBox="1"/>
          <p:nvPr/>
        </p:nvSpPr>
        <p:spPr>
          <a:xfrm>
            <a:off x="74066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C9C5F8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回目錄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色底規則與替代料拆列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sp>
        <p:nvSpPr>
          <p:cNvPr id="4" name="lg0"/>
          <p:cNvSpPr/>
          <p:nvPr/>
        </p:nvSpPr>
        <p:spPr>
          <a:xfrm>
            <a:off x="457200" y="987552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E0B2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05156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C2E"/>
                </a:solidFill>
              </a:rPr>
              <a:t>橘底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05156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52"/>
                </a:solidFill>
              </a:rPr>
              <a:t>Knowledge 命中（優先序最高）</a:t>
            </a:r>
            <a:endParaRPr lang="en-US" sz="1100" dirty="0"/>
          </a:p>
        </p:txBody>
      </p:sp>
      <p:sp>
        <p:nvSpPr>
          <p:cNvPr id="7" name="lg1"/>
          <p:cNvSpPr/>
          <p:nvPr/>
        </p:nvSpPr>
        <p:spPr>
          <a:xfrm>
            <a:off x="457200" y="164592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E8B9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70992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C2E"/>
                </a:solidFill>
              </a:rPr>
              <a:t>黃底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70992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52"/>
                </a:solidFill>
              </a:rPr>
              <a:t>原本為 NC 的零件</a:t>
            </a:r>
            <a:endParaRPr lang="en-US" sz="1100" dirty="0"/>
          </a:p>
        </p:txBody>
      </p:sp>
      <p:sp>
        <p:nvSpPr>
          <p:cNvPr id="10" name="lg2"/>
          <p:cNvSpPr/>
          <p:nvPr/>
        </p:nvSpPr>
        <p:spPr>
          <a:xfrm>
            <a:off x="457200" y="2304288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368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C2E"/>
                </a:solidFill>
              </a:rPr>
              <a:t>綠底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36829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52"/>
                </a:solidFill>
              </a:rPr>
              <a:t>含替代料（已拆列）</a:t>
            </a:r>
            <a:endParaRPr lang="en-US" sz="1100" dirty="0"/>
          </a:p>
        </p:txBody>
      </p:sp>
      <p:sp>
        <p:nvSpPr>
          <p:cNvPr id="13" name="lg3"/>
          <p:cNvSpPr/>
          <p:nvPr/>
        </p:nvSpPr>
        <p:spPr>
          <a:xfrm>
            <a:off x="457200" y="2962656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D9E1F2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0266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C2E"/>
                </a:solidFill>
              </a:rPr>
              <a:t>藍底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02666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52"/>
                </a:solidFill>
              </a:rPr>
              <a:t>Total 合計列</a:t>
            </a:r>
            <a:endParaRPr lang="en-US" sz="1100" dirty="0"/>
          </a:p>
        </p:txBody>
      </p:sp>
      <p:sp>
        <p:nvSpPr>
          <p:cNvPr id="16" name="lg4"/>
          <p:cNvSpPr/>
          <p:nvPr/>
        </p:nvSpPr>
        <p:spPr>
          <a:xfrm>
            <a:off x="457200" y="3621024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DE1E1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68503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C2E"/>
                </a:solidFill>
              </a:rPr>
              <a:t>紅底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68503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52"/>
                </a:solidFill>
              </a:rPr>
              <a:t>有位號查不到面別（雙面板專用）</a:t>
            </a:r>
            <a:endParaRPr lang="en-US" sz="1100" dirty="0"/>
          </a:p>
        </p:txBody>
      </p:sp>
      <p:sp>
        <p:nvSpPr>
          <p:cNvPr id="19" name="split"/>
          <p:cNvSpPr/>
          <p:nvPr/>
        </p:nvSpPr>
        <p:spPr>
          <a:xfrm>
            <a:off x="4754880" y="987552"/>
            <a:ext cx="4389120" cy="2633472"/>
          </a:xfrm>
          <a:prstGeom prst="roundRect">
            <a:avLst>
              <a:gd name="adj" fmla="val 2083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替代料拆列（v0.07 起）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14447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1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v0.06　一列　P/N = 61041115;61041238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178308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v0.08　主列　Item=8  Qty=3  Location=C2,C3,C6  P/N=61041115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　　　　續列　Item=空 Qty=空 Location=空　　　 P/N=61041238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259689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C4252"/>
                </a:solidFill>
              </a:rPr>
              <a:t>續列的 Description 是該替代料自己的 DB 描述。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C4252"/>
                </a:solidFill>
              </a:rPr>
              <a:t>Total Qty 只加總主列，不會因為拆列而重複計算。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資料夾規則與自動偵測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743200"/>
                <a:gridCol w="4251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資料夾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放什麼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怎麼認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TXT\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Altium Text BOM（*.txt / *.BOM）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要有一列是 TAB 分隔的表頭，欄位含 Item / Quantity / Reference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ExcelDB\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零件資料庫 + Knowledge（*.xlsx）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零件庫第 1 列要有 P/N 與 Description；Knowledge 要有 品名 與 包裝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screenshot\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PCB 圖片（*.jpg / *.png）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pcb.* 優先，其餘依最後修改時間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output\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產出的 E-BOM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不存在時輸出到程式所在資料夾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180"/>
                </a:solidFill>
              </a:rPr>
              <a:t>四類候選都依「最後修改時間」排序，最新的排第一個並預設選中。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180"/>
                </a:solidFill>
              </a:rPr>
              <a:t>這些子資料夾都是選用的，找不到就退回程式所在資料夾。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8988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D86F0"/>
                </a:solidFill>
              </a:rPr>
              <a:t>07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疑難排解</a:t>
            </a:r>
            <a:endParaRPr lang="en-US" sz="3600" dirty="0"/>
          </a:p>
        </p:txBody>
      </p:sp>
      <p:sp>
        <p:nvSpPr>
          <p:cNvPr id="4" name="Text 2">
            <a:hlinkClick r:id="rId1" tooltip="" action="ppaction://hlinksldjump"/>
          </p:cNvPr>
          <p:cNvSpPr txBox="1"/>
          <p:nvPr/>
        </p:nvSpPr>
        <p:spPr>
          <a:xfrm>
            <a:off x="74066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C9C5F8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回目錄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常見問題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sp>
        <p:nvSpPr>
          <p:cNvPr id="4" name="qa0"/>
          <p:cNvSpPr/>
          <p:nvPr/>
        </p:nvSpPr>
        <p:spPr>
          <a:xfrm>
            <a:off x="457200" y="98755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0789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Q　</a:t>
            </a:r>
            <a:pPr indent="0" marL="0">
              <a:buNone/>
            </a:pPr>
            <a:r>
              <a:rPr lang="en-US" sz="1200" b="1" dirty="0">
                <a:solidFill>
                  <a:srgbClr val="1A1C2E"/>
                </a:solidFill>
              </a:rPr>
              <a:t>雙擊 .bat 一閃就關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389888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C4252"/>
                </a:solidFill>
              </a:rPr>
              <a:t>沒裝 Python 或沒加入 PATH。先跑「安裝.bat」看訊息。</a:t>
            </a:r>
            <a:endParaRPr lang="en-US" sz="1050" dirty="0"/>
          </a:p>
        </p:txBody>
      </p:sp>
      <p:sp>
        <p:nvSpPr>
          <p:cNvPr id="7" name="qa1"/>
          <p:cNvSpPr/>
          <p:nvPr/>
        </p:nvSpPr>
        <p:spPr>
          <a:xfrm>
            <a:off x="4663440" y="98755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9744" y="10789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Q　</a:t>
            </a:r>
            <a:pPr indent="0" marL="0">
              <a:buNone/>
            </a:pPr>
            <a:r>
              <a:rPr lang="en-US" sz="1200" b="1" dirty="0">
                <a:solidFill>
                  <a:srgbClr val="1A1C2E"/>
                </a:solidFill>
              </a:rPr>
              <a:t>雙擊 .py 沒反應 / 閃退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9744" y="1389888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C4252"/>
                </a:solidFill>
              </a:rPr>
              <a:t>C 案的 .py 必須用 streamlit 啟動，一律走 run_C_streamlit.bat。</a:t>
            </a:r>
            <a:endParaRPr lang="en-US" sz="1050" dirty="0"/>
          </a:p>
        </p:txBody>
      </p:sp>
      <p:sp>
        <p:nvSpPr>
          <p:cNvPr id="10" name="qa2"/>
          <p:cNvSpPr/>
          <p:nvPr/>
        </p:nvSpPr>
        <p:spPr>
          <a:xfrm>
            <a:off x="457200" y="213055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" y="22219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Q　</a:t>
            </a:r>
            <a:pPr indent="0" marL="0">
              <a:buNone/>
            </a:pPr>
            <a:r>
              <a:rPr lang="en-US" sz="1200" b="1" dirty="0">
                <a:solidFill>
                  <a:srgbClr val="1A1C2E"/>
                </a:solidFill>
              </a:rPr>
              <a:t>C 案瀏覽器打不開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2532888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C4252"/>
                </a:solidFill>
              </a:rPr>
              <a:t>8601 埠被占用。改用 --server.port 8602 另開一個埠。</a:t>
            </a:r>
            <a:endParaRPr lang="en-US" sz="1050" dirty="0"/>
          </a:p>
        </p:txBody>
      </p:sp>
      <p:sp>
        <p:nvSpPr>
          <p:cNvPr id="13" name="qa3"/>
          <p:cNvSpPr/>
          <p:nvPr/>
        </p:nvSpPr>
        <p:spPr>
          <a:xfrm>
            <a:off x="4663440" y="213055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9744" y="22219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Q　</a:t>
            </a:r>
            <a:pPr indent="0" marL="0">
              <a:buNone/>
            </a:pPr>
            <a:r>
              <a:rPr lang="en-US" sz="1200" b="1" dirty="0">
                <a:solidFill>
                  <a:srgbClr val="1A1C2E"/>
                </a:solidFill>
              </a:rPr>
              <a:t>D 案視窗開不起來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09744" y="2532888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C4252"/>
                </a:solidFill>
              </a:rPr>
              <a:t>用 run_D_webview_debug.bat 看訊息，多半是缺 Edge WebView2 Runtime。</a:t>
            </a:r>
            <a:endParaRPr lang="en-US" sz="1050" dirty="0"/>
          </a:p>
        </p:txBody>
      </p:sp>
      <p:sp>
        <p:nvSpPr>
          <p:cNvPr id="16" name="qa4"/>
          <p:cNvSpPr/>
          <p:nvPr/>
        </p:nvSpPr>
        <p:spPr>
          <a:xfrm>
            <a:off x="457200" y="327355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" y="33649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Q　</a:t>
            </a:r>
            <a:pPr indent="0" marL="0">
              <a:buNone/>
            </a:pPr>
            <a:r>
              <a:rPr lang="en-US" sz="1200" b="1" dirty="0">
                <a:solidFill>
                  <a:srgbClr val="1A1C2E"/>
                </a:solidFill>
              </a:rPr>
              <a:t>說找不到零件資料庫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675888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C4252"/>
                </a:solidFill>
              </a:rPr>
              <a:t>檢查 xlsx 第 1 列是不是「P/N」與「Description」這兩個字。</a:t>
            </a:r>
            <a:endParaRPr lang="en-US" sz="1050" dirty="0"/>
          </a:p>
        </p:txBody>
      </p:sp>
      <p:sp>
        <p:nvSpPr>
          <p:cNvPr id="19" name="qa5"/>
          <p:cNvSpPr/>
          <p:nvPr/>
        </p:nvSpPr>
        <p:spPr>
          <a:xfrm>
            <a:off x="4663440" y="327355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9744" y="33649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Q　</a:t>
            </a:r>
            <a:pPr indent="0" marL="0">
              <a:buNone/>
            </a:pPr>
            <a:r>
              <a:rPr lang="en-US" sz="1200" b="1" dirty="0">
                <a:solidFill>
                  <a:srgbClr val="1A1C2E"/>
                </a:solidFill>
              </a:rPr>
              <a:t>產出的檔案別的工具打不開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09744" y="3675888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C4252"/>
                </a:solidFill>
              </a:rPr>
              <a:t>v0.08 起副檔名強制 .xlsx，不會再有 .xls 的問題。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v0.09 的重點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75488" y="1088136"/>
            <a:ext cx="137160" cy="1371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9875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C2E"/>
                </a:solidFill>
              </a:rPr>
              <a:t>屬性式比對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005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252"/>
                </a:solidFill>
              </a:rPr>
              <a:t>Part 拆成值／耐壓／誤差／電流再比，不再整串找子字串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" y="1655064"/>
            <a:ext cx="137160" cy="137160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5544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C2E"/>
                </a:solidFill>
              </a:rPr>
              <a:t>NC(...) 認得出來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15727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252"/>
                </a:solidFill>
              </a:rPr>
              <a:t>SM8008 有 26 項括號式 NC，v0.08 全部漏判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" y="2221992"/>
            <a:ext cx="137160" cy="137160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1214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C2E"/>
                </a:solidFill>
              </a:rPr>
              <a:t>未命中會說原因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1396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252"/>
                </a:solidFill>
              </a:rPr>
              <a:t>不再靜默留白 —— 格式變了當場就看得到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" y="2788920"/>
            <a:ext cx="137160" cy="137160"/>
          </a:xfrm>
          <a:prstGeom prst="ellipse">
            <a:avLst/>
          </a:prstGeom>
          <a:solidFill>
            <a:srgbClr val="E8B931"/>
          </a:solidFill>
          <a:ln w="12700">
            <a:solidFill>
              <a:srgbClr val="E8B93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26883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C2E"/>
                </a:solidFill>
              </a:rPr>
              <a:t>雙面板 TOP / BOT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7066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252"/>
                </a:solidFill>
              </a:rPr>
              <a:t>F、G 兩欄＋兩張 PCB 圖＋位號對不上三層警告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" y="3355848"/>
            <a:ext cx="137160" cy="137160"/>
          </a:xfrm>
          <a:prstGeom prst="ellipse">
            <a:avLst/>
          </a:prstGeom>
          <a:solidFill>
            <a:srgbClr val="6B7180"/>
          </a:solidFill>
          <a:ln w="12700">
            <a:solidFill>
              <a:srgbClr val="6B71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32552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C2E"/>
                </a:solidFill>
              </a:rPr>
              <a:t>SM8008 命中 26 → 45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2735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252"/>
                </a:solidFill>
              </a:rPr>
              <a:t>三份 BOM 回歸測試零退步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180"/>
                </a:solidFill>
              </a:rPr>
              <a:t>完整清單見 changelog_BOM_matcher_v0.09.txt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1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M Matcher">
  <a:themeElements>
    <a:clrScheme name="BOM Matcher">
      <a:dk1>
        <a:srgbClr val="1A1C2E"/>
      </a:dk1>
      <a:lt1>
        <a:srgbClr val="FFFFFF"/>
      </a:lt1>
      <a:dk2>
        <a:srgbClr val="3C4252"/>
      </a:dk2>
      <a:lt2>
        <a:srgbClr val="F7F8FA"/>
      </a:lt2>
      <a:accent1>
        <a:srgbClr val="4F46E5"/>
      </a:accent1>
      <a:accent2>
        <a:srgbClr val="0F9D58"/>
      </a:accent2>
      <a:accent3>
        <a:srgbClr val="E8863A"/>
      </a:accent3>
      <a:accent4>
        <a:srgbClr val="E8B931"/>
      </a:accent4>
      <a:accent5>
        <a:srgbClr val="6B7180"/>
      </a:accent5>
      <a:accent6>
        <a:srgbClr val="E8EAED"/>
      </a:accent6>
      <a:hlink>
        <a:srgbClr val="4F46E5"/>
      </a:hlink>
      <a:folHlink>
        <a:srgbClr val="6B7180"/>
      </a:folHlink>
    </a:clrScheme>
    <a:fontScheme name="BOM Matcher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BOM Matcher v0.09 操作 SOP</dc:title>
  <dc:subject>PptxGenJS Presentation</dc:subject>
  <dc:creator>ADATA Technology</dc:creator>
  <cp:lastModifiedBy>ADATA Technology</cp:lastModifiedBy>
  <cp:revision>1</cp:revision>
  <dcterms:created xsi:type="dcterms:W3CDTF">2026-10-20T00:46:27Z</dcterms:created>
  <dcterms:modified xsi:type="dcterms:W3CDTF">2026-10-20T00:46:27Z</dcterms:modified>
</cp:coreProperties>
</file>