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封面" id="{e32aa9ac-2389-259e-b72d-04efa4780eac}">
          <p14:sldIdLst>
            <p14:sldId id="256"/>
            <p14:sldId id="257"/>
          </p14:sldIdLst>
        </p14:section>
        <p14:section name="認識工具" id="{4970671b-30c6-44f2-7672-66cbba897606}">
          <p14:sldIdLst>
            <p14:sldId id="258"/>
            <p14:sldId id="259"/>
            <p14:sldId id="260"/>
          </p14:sldIdLst>
        </p14:section>
        <p14:section name="安裝" id="{742e0d99-4b52-e9be-b6b9-07b2a2337a18}">
          <p14:sldIdLst>
            <p14:sldId id="261"/>
            <p14:sldId id="262"/>
            <p14:sldId id="263"/>
          </p14:sldIdLst>
        </p14:section>
        <p14:section name="C 案操作" id="{7776e35e-e149-09cb-68d9-36de13c95dff}">
          <p14:sldIdLst>
            <p14:sldId id="264"/>
            <p14:sldId id="265"/>
            <p14:sldId id="266"/>
            <p14:sldId id="267"/>
            <p14:sldId id="268"/>
          </p14:sldIdLst>
        </p14:section>
        <p14:section name="D 案操作" id="{16ebc216-df37-702c-d4b0-a15d117f722e}">
          <p14:sldIdLst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雙面板" id="{60b1c454-6e6f-f311-50ba-5c82137fad63}">
          <p14:sldIdLst>
            <p14:sldId id="275"/>
            <p14:sldId id="276"/>
            <p14:sldId id="277"/>
          </p14:sldIdLst>
        </p14:section>
        <p14:section name="降壓選料" id="{6375dd90-6ead-bebf-922a-bac314ad8bfb}">
          <p14:sldIdLst>
            <p14:sldId id="278"/>
            <p14:sldId id="279"/>
            <p14:sldId id="280"/>
          </p14:sldIdLst>
        </p14:section>
        <p14:section name="看懂輸出" id="{397b50ed-8806-0b3a-84cc-bde49a18afd9}">
          <p14:sldIdLst>
            <p14:sldId id="281"/>
            <p14:sldId id="282"/>
            <p14:sldId id="283"/>
          </p14:sldIdLst>
        </p14:section>
        <p14:section name="疑難排解" id="{bf780caa-0f90-f787-44c6-801a54b1ce82}">
          <p14:sldIdLst>
            <p14:sldId id="284"/>
            <p14:sldId id="285"/>
            <p14:sldId id="28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BOM Matcher 操作 SOP 封面。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目錄，含超連結。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這個工具在做什麼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三種介面（CLI / C 案 / D 案）共用同一份核心邏輯， 同一份輸入產出的 Excel 完全相同。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run_CLI.bat：命令列；run_C_streamlit.bat：C 案．瀏覽器；run_D_webview.bat：D 案．原生視窗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安裝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兩包的程式本體與範例資料完全相同，差別只在「套件怎麼來」。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解壓縮到任意資料夾　2. 執行「安裝.bat」　3. 看到「請重開視窗」就再跑一次　4. 確認三行都是 [OK]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 案　瀏覽器介面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四個檔案由程式自動偵測，候選依最後修改時間排序，最新的排第一個　偵測是看「內容」不是看檔名 —— 把產出的 E-BOM 丟回資料夾不會被誤認　不對就按右邊的「瀏覽…」自己選　輸出路徑預設在 output\，副檔名一律強制 .xlsx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展開「📂 目錄瀏覽器」就能自己翻資料夾　左邊是子資料夾，右邊是符合副檔名的檔案，後面附最後修改日期　「⬆ 上一層」往上、「🏠 程式目錄」跳回程式所在位置　點檔名即選取，上方的下拉選單會跟著換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上方六個數字：總項次 / 輸出列數 / 命中 / 未命中 / Knowledge / Total Qty　表格可直接改 P/N、RC/EC、Description、Qty、Location　改完按「儲存修改」才會帶進產出的 Excel　狀態欄的 🟠🟡🟢⚪ 對應輸出 Excel 的橘／黃／綠底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按「▶ 產出 Excel」，檔案直接寫到輸出路徑　下方日誌會列出 PCB 圖片尺寸、實際輸出路徑、項數與 Total Qty　「⤓ 下載 xlsx」可另存一份到瀏覽器的下載目錄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 案　原生視窗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欄位與 C 案相同，每個都有「瀏覽…」　Location TOP/BOT 對照表：選填，給了就切換成雙面板模式　PCB 圖片（BOT 面）：雙面板時提供兩張，圖片區自動切成上下兩半　「替代料拆列」打勾時一列只有一個 P/N；取消勾選會回到 a;b 單列格式　下方黑色區塊是執行日誌　按「▶ 執行比對」開始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點任何一列，右側會顯示該料件的 Footprint、RC/EC、P/N、比對狀態　未命中的列顯示「— 無命中 —」，直接在格子裡補料號　表格上方的篩選鈕：全部 / 未命中 / NC / 替代料 / Knowledge / 需確認 / Location 未知　底色與輸出 Excel 一致，編輯與色底可以並存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列出所有命中 Knowledge 的料件與對應注意事項　命中條件三選一：P/N 相同、品名是描述的子字串、包裝是描述的子字串　判斷不適用就按「✕ 忽略此筆」　忽略後該列不會標橘底，Note 也不會寫進 Excel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對應輸出 Excel 的 rows 3–8　PCB板號 / PCB料號 / RC/EC NO. / PCB供應商 / PCB 規格　發行序號 / 發行(改版)日期 / 目前版次 / Support IC Type　留空就是空白，不影響其他功能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確認輸出路徑後按「▶ 產出 Excel」　「開啟輸出資料夾」會直接叫出檔案總管　底部動作列隨時可以產出，不必回到這一頁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雙面板　TOP / BOT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表格上方的「Location 未知」篩選鈕可以只看有問題的列　該列淡紅底，並在 Location-Bot 欄寫出是哪幾個 Location　Excel 的 H:O 欄也會寫同一段紅字警告　執行日誌會列出受影響的 Item、Qty 與 Location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Location 對照表：xlsx 為主．txt 為輔；Excel 欄位：維持 15 欄（A:O）；PCB 圖片：檔名含 top / bot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電容降壓選料　R8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表格上方的「需確認」篩選鈕只看這一類，數字是筆數　容值與封裝一致、DB 耐壓低於設計值的電容才會進這一類　Description 自動加註 (原始設計為10V, 請再確認)，原始耐壓寫在裡面　這些列標紫底，Excel 的圖例也會多一列說明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先找規格完全符合的　2. 一個都沒有才考慮降壓品　3. 註記寫進 Description　4. 人工確認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看懂產出的 Excel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輸出 Excel 的色底規則與替代料拆列。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四類候選都依「最後修改時間」排序，最新的排第一個並預設選中。 這些子資料夾都是選用的，找不到就退回程式所在資料夾。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疑難排解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雙擊 .bat 一閃就關　雙擊 .py 沒反應 / 閃退　C 案瀏覽器打不開　D 案視窗開不起來　說找不到零件資料庫　產出的檔案別的工具打不開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屬性式比對　NC(...) 認得出來　未命中會說原因　雙面板 Top / Bot　Location 加 (T)/(B)　R8 電容降壓選料　SM8008 命中 26 → 45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A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4F46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7274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180"/>
                </a:solidFill>
              </a:rPr>
              <a:t>BOM Matcher v0.10 操作 SOP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6766560" y="47274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180"/>
                </a:solidFill>
              </a:rPr>
              <a:t>2026-10-20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274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274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3.xml"/><Relationship Id="rId3" Type="http://schemas.openxmlformats.org/officeDocument/2006/relationships/slide" Target="slide4.xml"/><Relationship Id="rId4" Type="http://schemas.openxmlformats.org/officeDocument/2006/relationships/slide" Target="slide4.xml"/><Relationship Id="rId5" Type="http://schemas.openxmlformats.org/officeDocument/2006/relationships/slide" Target="slide5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6.xml"/><Relationship Id="rId9" Type="http://schemas.openxmlformats.org/officeDocument/2006/relationships/slide" Target="slide7.xml"/><Relationship Id="rId10" Type="http://schemas.openxmlformats.org/officeDocument/2006/relationships/slide" Target="slide7.xml"/><Relationship Id="rId11" Type="http://schemas.openxmlformats.org/officeDocument/2006/relationships/slide" Target="slide8.xml"/><Relationship Id="rId12" Type="http://schemas.openxmlformats.org/officeDocument/2006/relationships/slide" Target="slide8.xml"/><Relationship Id="rId13" Type="http://schemas.openxmlformats.org/officeDocument/2006/relationships/slide" Target="slide9.xml"/><Relationship Id="rId14" Type="http://schemas.openxmlformats.org/officeDocument/2006/relationships/slide" Target="slide9.xml"/><Relationship Id="rId15" Type="http://schemas.openxmlformats.org/officeDocument/2006/relationships/slide" Target="slide10.xml"/><Relationship Id="rId16" Type="http://schemas.openxmlformats.org/officeDocument/2006/relationships/slide" Target="slide10.xml"/><Relationship Id="rId17" Type="http://schemas.openxmlformats.org/officeDocument/2006/relationships/slide" Target="slide11.xml"/><Relationship Id="rId18" Type="http://schemas.openxmlformats.org/officeDocument/2006/relationships/slide" Target="slide11.xml"/><Relationship Id="rId19" Type="http://schemas.openxmlformats.org/officeDocument/2006/relationships/slide" Target="slide12.xml"/><Relationship Id="rId20" Type="http://schemas.openxmlformats.org/officeDocument/2006/relationships/slide" Target="slide12.xml"/><Relationship Id="rId21" Type="http://schemas.openxmlformats.org/officeDocument/2006/relationships/slide" Target="slide13.xml"/><Relationship Id="rId22" Type="http://schemas.openxmlformats.org/officeDocument/2006/relationships/slide" Target="slide13.xml"/><Relationship Id="rId23" Type="http://schemas.openxmlformats.org/officeDocument/2006/relationships/slide" Target="slide14.xml"/><Relationship Id="rId24" Type="http://schemas.openxmlformats.org/officeDocument/2006/relationships/slide" Target="slide14.xml"/><Relationship Id="rId25" Type="http://schemas.openxmlformats.org/officeDocument/2006/relationships/slide" Target="slide15.xml"/><Relationship Id="rId26" Type="http://schemas.openxmlformats.org/officeDocument/2006/relationships/slide" Target="slide15.xml"/><Relationship Id="rId27" Type="http://schemas.openxmlformats.org/officeDocument/2006/relationships/slide" Target="slide16.xml"/><Relationship Id="rId28" Type="http://schemas.openxmlformats.org/officeDocument/2006/relationships/slide" Target="slide16.xml"/><Relationship Id="rId29" Type="http://schemas.openxmlformats.org/officeDocument/2006/relationships/slide" Target="slide17.xml"/><Relationship Id="rId30" Type="http://schemas.openxmlformats.org/officeDocument/2006/relationships/slide" Target="slide17.xml"/><Relationship Id="rId31" Type="http://schemas.openxmlformats.org/officeDocument/2006/relationships/slide" Target="slide18.xml"/><Relationship Id="rId32" Type="http://schemas.openxmlformats.org/officeDocument/2006/relationships/slide" Target="slide18.xml"/><Relationship Id="rId33" Type="http://schemas.openxmlformats.org/officeDocument/2006/relationships/slide" Target="slide19.xml"/><Relationship Id="rId34" Type="http://schemas.openxmlformats.org/officeDocument/2006/relationships/slide" Target="slide19.xml"/><Relationship Id="rId35" Type="http://schemas.openxmlformats.org/officeDocument/2006/relationships/slide" Target="slide20.xml"/><Relationship Id="rId36" Type="http://schemas.openxmlformats.org/officeDocument/2006/relationships/slide" Target="slide20.xml"/><Relationship Id="rId37" Type="http://schemas.openxmlformats.org/officeDocument/2006/relationships/slide" Target="slide21.xml"/><Relationship Id="rId38" Type="http://schemas.openxmlformats.org/officeDocument/2006/relationships/slide" Target="slide21.xml"/><Relationship Id="rId39" Type="http://schemas.openxmlformats.org/officeDocument/2006/relationships/slide" Target="slide22.xml"/><Relationship Id="rId40" Type="http://schemas.openxmlformats.org/officeDocument/2006/relationships/slide" Target="slide22.xml"/><Relationship Id="rId41" Type="http://schemas.openxmlformats.org/officeDocument/2006/relationships/slide" Target="slide23.xml"/><Relationship Id="rId42" Type="http://schemas.openxmlformats.org/officeDocument/2006/relationships/slide" Target="slide23.xml"/><Relationship Id="rId43" Type="http://schemas.openxmlformats.org/officeDocument/2006/relationships/slide" Target="slide24.xml"/><Relationship Id="rId44" Type="http://schemas.openxmlformats.org/officeDocument/2006/relationships/slide" Target="slide24.xml"/><Relationship Id="rId45" Type="http://schemas.openxmlformats.org/officeDocument/2006/relationships/slide" Target="slide25.xml"/><Relationship Id="rId46" Type="http://schemas.openxmlformats.org/officeDocument/2006/relationships/slide" Target="slide25.xml"/><Relationship Id="rId47" Type="http://schemas.openxmlformats.org/officeDocument/2006/relationships/slide" Target="slide26.xml"/><Relationship Id="rId48" Type="http://schemas.openxmlformats.org/officeDocument/2006/relationships/slide" Target="slide26.xml"/><Relationship Id="rId49" Type="http://schemas.openxmlformats.org/officeDocument/2006/relationships/slide" Target="slide27.xml"/><Relationship Id="rId50" Type="http://schemas.openxmlformats.org/officeDocument/2006/relationships/slide" Target="slide27.xml"/><Relationship Id="rId51" Type="http://schemas.openxmlformats.org/officeDocument/2006/relationships/slide" Target="slide28.xml"/><Relationship Id="rId52" Type="http://schemas.openxmlformats.org/officeDocument/2006/relationships/slide" Target="slide28.xml"/><Relationship Id="rId53" Type="http://schemas.openxmlformats.org/officeDocument/2006/relationships/slide" Target="slide29.xml"/><Relationship Id="rId54" Type="http://schemas.openxmlformats.org/officeDocument/2006/relationships/slide" Target="slide29.xml"/><Relationship Id="rId55" Type="http://schemas.openxmlformats.org/officeDocument/2006/relationships/slide" Target="slide30.xml"/><Relationship Id="rId56" Type="http://schemas.openxmlformats.org/officeDocument/2006/relationships/slide" Target="slide30.xml"/><Relationship Id="rId57" Type="http://schemas.openxmlformats.org/officeDocument/2006/relationships/slide" Target="slide31.xml"/><Relationship Id="rId58" Type="http://schemas.openxmlformats.org/officeDocument/2006/relationships/slide" Target="slide31.xml"/><Relationship Id="rId59" Type="http://schemas.openxmlformats.org/officeDocument/2006/relationships/slideLayout" Target="../slideLayouts/slideLayout4.xml"/><Relationship Id="rId6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0-1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1-1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2-1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3-1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5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6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7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8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9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21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24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536192"/>
            <a:ext cx="7863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BOM Matcher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487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5A0F5"/>
                </a:solidFill>
              </a:rPr>
              <a:t>操作 SOP　v0.10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8862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9AA0AE"/>
                </a:solidFill>
              </a:rPr>
              <a:t>ADATA Technology　2026-10-20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9AA0AE"/>
                </a:solidFill>
              </a:rPr>
              <a:t>Altium Text BOM ＋ 零件資料庫 → ADATA E-BOM Excel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216152"/>
            <a:ext cx="146304" cy="146304"/>
          </a:xfrm>
          <a:prstGeom prst="ellipse">
            <a:avLst/>
          </a:prstGeom>
          <a:solidFill>
            <a:srgbClr val="E8B931"/>
          </a:solidFill>
          <a:ln w="12700">
            <a:solidFill>
              <a:srgbClr val="E8B93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4944" y="1216152"/>
            <a:ext cx="146304" cy="146304"/>
          </a:xfrm>
          <a:prstGeom prst="ellipse">
            <a:avLst/>
          </a:prstGeom>
          <a:solidFill>
            <a:srgbClr val="0F9D58"/>
          </a:solidFill>
          <a:ln w="12700">
            <a:solidFill>
              <a:srgbClr val="0F9D5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32688" y="1216152"/>
            <a:ext cx="146304" cy="146304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目錄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3268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01　這個工具在做什麼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3913632" y="932688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4F46E5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3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261872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五個輸入，一個輸出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3913632" y="1261872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4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508760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三種介面怎麼選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3913632" y="1508760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5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75564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rgbClr val="4F46E5"/>
                </a:solidFill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02　安裝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913632" y="1755648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4F46E5"/>
                </a:solidFill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6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2084832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兩種交付包怎麼選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3913632" y="2084832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7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331720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安裝步驟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3913632" y="2331720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8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57860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rgbClr val="4F46E5"/>
                </a:solidFill>
                <a:hlinkClick r:id="rId1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03　C 案　瀏覽器介面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3913632" y="2578608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4F46E5"/>
                </a:solidFill>
                <a:hlinkClick r:id="rId1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9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2907792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1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步驟 1　檔案設定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3913632" y="2907792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1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10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3154680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1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檔案不在預設清單裡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3913632" y="3154680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1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11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3401568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1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步驟 2　比對結果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3913632" y="3401568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2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12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3648456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2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步驟 3　產出 E-BOM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3913632" y="3648456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2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13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3895344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rgbClr val="4F46E5"/>
                </a:solidFill>
                <a:hlinkClick r:id="rId2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04　D 案　原生視窗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3913632" y="3895344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4F46E5"/>
                </a:solidFill>
                <a:hlinkClick r:id="rId2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14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4224528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2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步驟 1　檔案設定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3913632" y="4224528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2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15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4471416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2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步驟 2　比對結果與人工修正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3913632" y="4471416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2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16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4718304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2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步驟 3　Knowledge 命中確認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3913632" y="4718304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3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17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4663440" y="932688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3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步驟 4　表頭資訊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8119872" y="932688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3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18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4663440" y="1179576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3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步驟 5　產出 E-BOM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8119872" y="1179576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3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19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4663440" y="1426464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rgbClr val="4F46E5"/>
                </a:solidFill>
                <a:hlinkClick r:id="rId3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05　雙面板　TOP / BOT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8119872" y="1426464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4F46E5"/>
                </a:solidFill>
                <a:hlinkClick r:id="rId3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4663440" y="1755648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3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Location 查不到 Top/Bot 時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8119872" y="1755648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3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21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4663440" y="2002536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3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雙面板的三個規則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8119872" y="2002536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4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22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4663440" y="2249424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rgbClr val="4F46E5"/>
                </a:solidFill>
                <a:hlinkClick r:id="rId4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06　電容降壓選料　R8</a:t>
            </a:r>
            <a:endParaRPr lang="en-US" sz="1250" dirty="0"/>
          </a:p>
        </p:txBody>
      </p:sp>
      <p:sp>
        <p:nvSpPr>
          <p:cNvPr id="44" name="Text 42"/>
          <p:cNvSpPr txBox="1"/>
          <p:nvPr/>
        </p:nvSpPr>
        <p:spPr>
          <a:xfrm>
            <a:off x="8119872" y="2249424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4F46E5"/>
                </a:solidFill>
                <a:hlinkClick r:id="rId4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23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4663440" y="2578608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4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耐壓低於原始設計的替代料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8119872" y="2578608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4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24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4663440" y="2825496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4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R8 怎麼判、怎麼確認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8119872" y="2825496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4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25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4663440" y="3072384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rgbClr val="4F46E5"/>
                </a:solidFill>
                <a:hlinkClick r:id="rId4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07　看懂產出的 Excel</a:t>
            </a:r>
            <a:endParaRPr lang="en-US" sz="1250" dirty="0"/>
          </a:p>
        </p:txBody>
      </p:sp>
      <p:sp>
        <p:nvSpPr>
          <p:cNvPr id="50" name="Text 48"/>
          <p:cNvSpPr txBox="1"/>
          <p:nvPr/>
        </p:nvSpPr>
        <p:spPr>
          <a:xfrm>
            <a:off x="8119872" y="3072384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4F46E5"/>
                </a:solidFill>
                <a:hlinkClick r:id="rId4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26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4663440" y="3401568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4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色底規則與替代料拆列</a:t>
            </a:r>
            <a:endParaRPr lang="en-US" sz="1050" dirty="0"/>
          </a:p>
        </p:txBody>
      </p:sp>
      <p:sp>
        <p:nvSpPr>
          <p:cNvPr id="52" name="Text 50"/>
          <p:cNvSpPr txBox="1"/>
          <p:nvPr/>
        </p:nvSpPr>
        <p:spPr>
          <a:xfrm>
            <a:off x="8119872" y="3401568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5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27</a:t>
            </a:r>
            <a:endParaRPr 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4663440" y="3648456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5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資料夾規則與自動偵測</a:t>
            </a:r>
            <a:endParaRPr lang="en-US" sz="1050" dirty="0"/>
          </a:p>
        </p:txBody>
      </p:sp>
      <p:sp>
        <p:nvSpPr>
          <p:cNvPr id="54" name="Text 52"/>
          <p:cNvSpPr txBox="1"/>
          <p:nvPr/>
        </p:nvSpPr>
        <p:spPr>
          <a:xfrm>
            <a:off x="8119872" y="3648456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5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28</a:t>
            </a:r>
            <a:endParaRPr lang="en-US" sz="1000" dirty="0"/>
          </a:p>
        </p:txBody>
      </p:sp>
      <p:sp>
        <p:nvSpPr>
          <p:cNvPr id="55" name="Text 53"/>
          <p:cNvSpPr txBox="1"/>
          <p:nvPr/>
        </p:nvSpPr>
        <p:spPr>
          <a:xfrm>
            <a:off x="4663440" y="3895344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rgbClr val="4F46E5"/>
                </a:solidFill>
                <a:hlinkClick r:id="rId5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08　疑難排解</a:t>
            </a:r>
            <a:endParaRPr lang="en-US" sz="1250" dirty="0"/>
          </a:p>
        </p:txBody>
      </p:sp>
      <p:sp>
        <p:nvSpPr>
          <p:cNvPr id="56" name="Text 54"/>
          <p:cNvSpPr txBox="1"/>
          <p:nvPr/>
        </p:nvSpPr>
        <p:spPr>
          <a:xfrm>
            <a:off x="8119872" y="3895344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4F46E5"/>
                </a:solidFill>
                <a:hlinkClick r:id="rId5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29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4663440" y="4224528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5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常見問題</a:t>
            </a:r>
            <a:endParaRPr lang="en-US" sz="1050" dirty="0"/>
          </a:p>
        </p:txBody>
      </p:sp>
      <p:sp>
        <p:nvSpPr>
          <p:cNvPr id="58" name="Text 56"/>
          <p:cNvSpPr txBox="1"/>
          <p:nvPr/>
        </p:nvSpPr>
        <p:spPr>
          <a:xfrm>
            <a:off x="8119872" y="4224528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5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30</a:t>
            </a:r>
            <a:endParaRPr lang="en-US" sz="1000" dirty="0"/>
          </a:p>
        </p:txBody>
      </p:sp>
      <p:sp>
        <p:nvSpPr>
          <p:cNvPr id="59" name="Text 57"/>
          <p:cNvSpPr txBox="1"/>
          <p:nvPr/>
        </p:nvSpPr>
        <p:spPr>
          <a:xfrm>
            <a:off x="4663440" y="4471416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5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v0.10 的重點</a:t>
            </a:r>
            <a:endParaRPr lang="en-US" sz="1050" dirty="0"/>
          </a:p>
        </p:txBody>
      </p:sp>
      <p:sp>
        <p:nvSpPr>
          <p:cNvPr id="60" name="Text 58"/>
          <p:cNvSpPr txBox="1"/>
          <p:nvPr/>
        </p:nvSpPr>
        <p:spPr>
          <a:xfrm>
            <a:off x="8119872" y="4471416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5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31</a:t>
            </a:r>
            <a:endParaRPr lang="en-US" sz="1000" dirty="0"/>
          </a:p>
        </p:txBody>
      </p:sp>
      <p:sp>
        <p:nvSpPr>
          <p:cNvPr id="61" name="Text 59"/>
          <p:cNvSpPr txBox="1"/>
          <p:nvPr/>
        </p:nvSpPr>
        <p:spPr>
          <a:xfrm>
            <a:off x="457200" y="43708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180"/>
                </a:solidFill>
              </a:rPr>
              <a:t>點選任一列可直接跳到該頁；每頁右下角的「☰ 目錄」可以回到這裡。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274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89888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D86F0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5146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這個工具在做什麼</a:t>
            </a:r>
            <a:endParaRPr lang="en-US" sz="3600" dirty="0"/>
          </a:p>
        </p:txBody>
      </p:sp>
      <p:sp>
        <p:nvSpPr>
          <p:cNvPr id="4" name="Text 2">
            <a:hlinkClick r:id="rId1" tooltip="" action="ppaction://hlinksldjump"/>
          </p:cNvPr>
          <p:cNvSpPr txBox="1"/>
          <p:nvPr/>
        </p:nvSpPr>
        <p:spPr>
          <a:xfrm>
            <a:off x="7406640" y="46634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C9C5F8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回目錄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五個輸入，一個輸出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0" y="47274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sp>
        <p:nvSpPr>
          <p:cNvPr id="4" name="in0"/>
          <p:cNvSpPr/>
          <p:nvPr/>
        </p:nvSpPr>
        <p:spPr>
          <a:xfrm>
            <a:off x="457200" y="1005840"/>
            <a:ext cx="1847088" cy="1143000"/>
          </a:xfrm>
          <a:prstGeom prst="roundRect">
            <a:avLst>
              <a:gd name="adj" fmla="val 4800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1161288"/>
            <a:ext cx="118872" cy="118872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58952" y="1097280"/>
            <a:ext cx="1435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C2E"/>
                </a:solidFill>
              </a:rPr>
              <a:t>Text BOM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85216" y="1417320"/>
            <a:ext cx="15910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180"/>
                </a:solidFill>
              </a:rPr>
              <a:t>Altium 匯出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180"/>
                </a:solidFill>
              </a:rPr>
              <a:t>*.txt 或 *.BOM</a:t>
            </a:r>
            <a:endParaRPr lang="en-US" sz="1000" dirty="0"/>
          </a:p>
        </p:txBody>
      </p:sp>
      <p:sp>
        <p:nvSpPr>
          <p:cNvPr id="8" name="in1"/>
          <p:cNvSpPr/>
          <p:nvPr/>
        </p:nvSpPr>
        <p:spPr>
          <a:xfrm>
            <a:off x="2478024" y="1005840"/>
            <a:ext cx="1847088" cy="1143000"/>
          </a:xfrm>
          <a:prstGeom prst="roundRect">
            <a:avLst>
              <a:gd name="adj" fmla="val 4800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606040" y="1161288"/>
            <a:ext cx="118872" cy="118872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779776" y="1097280"/>
            <a:ext cx="1435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C2E"/>
                </a:solidFill>
              </a:rPr>
              <a:t>零件資料庫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606040" y="1417320"/>
            <a:ext cx="15910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180"/>
                </a:solidFill>
              </a:rPr>
              <a:t>P/N + Description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180"/>
                </a:solidFill>
              </a:rPr>
              <a:t>*.xlsx</a:t>
            </a:r>
            <a:endParaRPr lang="en-US" sz="1000" dirty="0"/>
          </a:p>
        </p:txBody>
      </p:sp>
      <p:sp>
        <p:nvSpPr>
          <p:cNvPr id="12" name="in2"/>
          <p:cNvSpPr/>
          <p:nvPr/>
        </p:nvSpPr>
        <p:spPr>
          <a:xfrm>
            <a:off x="4498848" y="1005840"/>
            <a:ext cx="1847088" cy="1143000"/>
          </a:xfrm>
          <a:prstGeom prst="roundRect">
            <a:avLst>
              <a:gd name="adj" fmla="val 4800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26864" y="1161288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00600" y="1097280"/>
            <a:ext cx="1435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C2E"/>
                </a:solidFill>
              </a:rPr>
              <a:t>Knowledge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626864" y="1417320"/>
            <a:ext cx="15910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180"/>
                </a:solidFill>
              </a:rPr>
              <a:t>品名 / 包裝 / 注意事項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180"/>
                </a:solidFill>
              </a:rPr>
              <a:t>*.xlsx</a:t>
            </a:r>
            <a:endParaRPr lang="en-US" sz="1000" dirty="0"/>
          </a:p>
        </p:txBody>
      </p:sp>
      <p:sp>
        <p:nvSpPr>
          <p:cNvPr id="16" name="in3"/>
          <p:cNvSpPr/>
          <p:nvPr/>
        </p:nvSpPr>
        <p:spPr>
          <a:xfrm>
            <a:off x="6519672" y="1005840"/>
            <a:ext cx="1847088" cy="1143000"/>
          </a:xfrm>
          <a:prstGeom prst="roundRect">
            <a:avLst>
              <a:gd name="adj" fmla="val 4800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647688" y="1161288"/>
            <a:ext cx="118872" cy="118872"/>
          </a:xfrm>
          <a:prstGeom prst="ellipse">
            <a:avLst/>
          </a:prstGeom>
          <a:solidFill>
            <a:srgbClr val="6B7180"/>
          </a:solidFill>
          <a:ln w="12700">
            <a:solidFill>
              <a:srgbClr val="6B718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21424" y="1097280"/>
            <a:ext cx="1435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C2E"/>
                </a:solidFill>
              </a:rPr>
              <a:t>PCB 圖片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647688" y="1417320"/>
            <a:ext cx="15910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180"/>
                </a:solidFill>
              </a:rPr>
              <a:t>pcb.jpg / png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180"/>
                </a:solidFill>
              </a:rPr>
              <a:t>嵌入 rows 9-35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 rot="10800000">
            <a:off x="4370832" y="2331720"/>
            <a:ext cx="402336" cy="274320"/>
          </a:xfrm>
          <a:prstGeom prst="triangle">
            <a:avLst/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out"/>
          <p:cNvSpPr/>
          <p:nvPr/>
        </p:nvSpPr>
        <p:spPr>
          <a:xfrm>
            <a:off x="457200" y="2724912"/>
            <a:ext cx="8229600" cy="841248"/>
          </a:xfrm>
          <a:prstGeom prst="roundRect">
            <a:avLst>
              <a:gd name="adj" fmla="val 6522"/>
            </a:avLst>
          </a:prstGeom>
          <a:solidFill>
            <a:srgbClr val="EEF0FF"/>
          </a:solidFill>
          <a:ln w="12700">
            <a:solidFill>
              <a:srgbClr val="C9CDF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" y="28346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F46E5"/>
                </a:solidFill>
              </a:rPr>
              <a:t>ADATA E-BOM 格式 Excel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31729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252"/>
                </a:solidFill>
              </a:rPr>
              <a:t>表頭、PCB 圖、BOM 明細、Total、表尾一次做好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37673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7180"/>
                </a:solidFill>
              </a:rPr>
              <a:t>三種介面（CLI / C 案 / D 案）共用同一份核心邏輯，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7180"/>
                </a:solidFill>
              </a:rPr>
              <a:t>同一份輸入產出的 Excel 完全相同。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274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三種介面怎麼選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0" y="47274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sp>
        <p:nvSpPr>
          <p:cNvPr id="4" name="card0"/>
          <p:cNvSpPr/>
          <p:nvPr/>
        </p:nvSpPr>
        <p:spPr>
          <a:xfrm>
            <a:off x="457200" y="987552"/>
            <a:ext cx="2679192" cy="3200400"/>
          </a:xfrm>
          <a:prstGeom prst="roundRect">
            <a:avLst>
              <a:gd name="adj" fmla="val 2048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87552"/>
            <a:ext cx="2679192" cy="713232"/>
          </a:xfrm>
          <a:prstGeom prst="roundRect">
            <a:avLst>
              <a:gd name="adj" fmla="val 7692"/>
            </a:avLst>
          </a:prstGeom>
          <a:solidFill>
            <a:srgbClr val="6B71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03504" y="1078992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run_CLI.bat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03504" y="1371600"/>
            <a:ext cx="2386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7F5"/>
                </a:solidFill>
              </a:rPr>
              <a:t>命令列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1856232"/>
            <a:ext cx="2350008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不需要 streamlit / pywebview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最快、最穩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不能人工修正，直接出檔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第一次安裝完建議先跑這支確認環境</a:t>
            </a:r>
            <a:endParaRPr lang="en-US" sz="1100" dirty="0"/>
          </a:p>
        </p:txBody>
      </p:sp>
      <p:sp>
        <p:nvSpPr>
          <p:cNvPr id="9" name="card1"/>
          <p:cNvSpPr/>
          <p:nvPr/>
        </p:nvSpPr>
        <p:spPr>
          <a:xfrm>
            <a:off x="3319272" y="987552"/>
            <a:ext cx="2679192" cy="3200400"/>
          </a:xfrm>
          <a:prstGeom prst="roundRect">
            <a:avLst>
              <a:gd name="adj" fmla="val 2048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19272" y="987552"/>
            <a:ext cx="2679192" cy="713232"/>
          </a:xfrm>
          <a:prstGeom prst="roundRect">
            <a:avLst>
              <a:gd name="adj" fmla="val 7692"/>
            </a:avLst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65576" y="1078992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run_C_streamlit.bat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465576" y="1371600"/>
            <a:ext cx="2386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7F5"/>
                </a:solidFill>
              </a:rPr>
              <a:t>C 案．瀏覽器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3483864" y="1856232"/>
            <a:ext cx="2350008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在瀏覽器操作，localhost:8601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可編輯表格後再產出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色底需切到「色底檢視」頁籤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使用期間不能關掉黑色主控台</a:t>
            </a:r>
            <a:endParaRPr lang="en-US" sz="1100" dirty="0"/>
          </a:p>
        </p:txBody>
      </p:sp>
      <p:sp>
        <p:nvSpPr>
          <p:cNvPr id="14" name="card2"/>
          <p:cNvSpPr/>
          <p:nvPr/>
        </p:nvSpPr>
        <p:spPr>
          <a:xfrm>
            <a:off x="6181344" y="987552"/>
            <a:ext cx="2679192" cy="3200400"/>
          </a:xfrm>
          <a:prstGeom prst="roundRect">
            <a:avLst>
              <a:gd name="adj" fmla="val 2048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81344" y="987552"/>
            <a:ext cx="2679192" cy="713232"/>
          </a:xfrm>
          <a:prstGeom prst="roundRect">
            <a:avLst>
              <a:gd name="adj" fmla="val 7692"/>
            </a:avLst>
          </a:prstGeom>
          <a:solidFill>
            <a:srgbClr val="2F8F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27648" y="1078992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run_D_webview.bat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327648" y="1371600"/>
            <a:ext cx="2386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7F5"/>
                </a:solidFill>
              </a:rPr>
              <a:t>D 案．原生視窗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345936" y="1856232"/>
            <a:ext cx="2350008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雙擊即開，不需要瀏覽器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三欄式，右側即時顯示明細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色底與編輯可以並存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篩選鈕：未命中 / NC / 替代料 / 需確認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274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89888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D86F0"/>
                </a:solidFill>
              </a:rPr>
              <a:t>02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5146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安裝</a:t>
            </a:r>
            <a:endParaRPr lang="en-US" sz="3600" dirty="0"/>
          </a:p>
        </p:txBody>
      </p:sp>
      <p:sp>
        <p:nvSpPr>
          <p:cNvPr id="4" name="Text 2">
            <a:hlinkClick r:id="rId1" tooltip="" action="ppaction://hlinksldjump"/>
          </p:cNvPr>
          <p:cNvSpPr txBox="1"/>
          <p:nvPr/>
        </p:nvSpPr>
        <p:spPr>
          <a:xfrm>
            <a:off x="7406640" y="46634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C9C5F8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回目錄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兩種交付包怎麼選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0" y="47274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sp>
        <p:nvSpPr>
          <p:cNvPr id="4" name="cmp0"/>
          <p:cNvSpPr/>
          <p:nvPr/>
        </p:nvSpPr>
        <p:spPr>
          <a:xfrm>
            <a:off x="457200" y="987552"/>
            <a:ext cx="4023360" cy="2606040"/>
          </a:xfrm>
          <a:prstGeom prst="roundRect">
            <a:avLst>
              <a:gd name="adj" fmla="val 2105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87552"/>
            <a:ext cx="4023360" cy="731520"/>
          </a:xfrm>
          <a:prstGeom prst="roundRect">
            <a:avLst>
              <a:gd name="adj" fmla="val 7500"/>
            </a:avLst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0881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完整離線安裝版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39903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7F5"/>
                </a:solidFill>
              </a:rPr>
              <a:t>約 112 MB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1883664"/>
            <a:ext cx="362102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C4252"/>
                </a:solidFill>
              </a:rPr>
              <a:t>自帶 Python 安裝檔與全部套件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C4252"/>
                </a:solidFill>
              </a:rPr>
              <a:t>安裝過程完全不需要網路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C4252"/>
                </a:solidFill>
              </a:rPr>
              <a:t>產線機器、連不上外網的環境用這包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C4252"/>
                </a:solidFill>
              </a:rPr>
              <a:t>多了 python\ 與 wheels\ 兩個資料夾</a:t>
            </a:r>
            <a:endParaRPr lang="en-US" sz="1150" dirty="0"/>
          </a:p>
        </p:txBody>
      </p:sp>
      <p:sp>
        <p:nvSpPr>
          <p:cNvPr id="9" name="cmp1"/>
          <p:cNvSpPr/>
          <p:nvPr/>
        </p:nvSpPr>
        <p:spPr>
          <a:xfrm>
            <a:off x="4663440" y="987552"/>
            <a:ext cx="4023360" cy="2606040"/>
          </a:xfrm>
          <a:prstGeom prst="roundRect">
            <a:avLst>
              <a:gd name="adj" fmla="val 2105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63440" y="987552"/>
            <a:ext cx="4023360" cy="731520"/>
          </a:xfrm>
          <a:prstGeom prst="roundRect">
            <a:avLst>
              <a:gd name="adj" fmla="val 7500"/>
            </a:avLst>
          </a:prstGeom>
          <a:solidFill>
            <a:srgbClr val="6B71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10881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精簡版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39903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7F5"/>
                </a:solidFill>
              </a:rPr>
              <a:t>約 0.2 MB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864608" y="1883664"/>
            <a:ext cx="362102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C4252"/>
                </a:solidFill>
              </a:rPr>
              <a:t>安裝時要連得上 python.org 與 PyPI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C4252"/>
                </a:solidFill>
              </a:rPr>
              <a:t>檔案小，好傳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C4252"/>
                </a:solidFill>
              </a:rPr>
              <a:t>辦公室機器用這包就夠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C4252"/>
                </a:solidFill>
              </a:rPr>
              <a:t>裝不起來時再改用完整離線版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82219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180"/>
                </a:solidFill>
              </a:rPr>
              <a:t>兩包的程式本體與範例資料完全相同，差別只在「套件怎麼來」。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274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安裝步驟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0" y="47274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1024128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024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024128" y="98755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2E"/>
                </a:solidFill>
              </a:rPr>
              <a:t>解壓縮到任意資料夾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24128" y="1280160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路徑不限。程式一律以「自己所在的資料夾」為工作目錄，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不必固定放哪裡。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956816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956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192024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2E"/>
                </a:solidFill>
              </a:rPr>
              <a:t>執行「安裝.bat」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024128" y="2212848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已經有 Python 會自動跳過，直接裝套件。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889504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889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024128" y="2852928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2E"/>
                </a:solidFill>
              </a:rPr>
              <a:t>看到「請重開視窗」就再跑一次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024128" y="3145536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Python 剛裝好時 PATH 還沒生效，關掉視窗再執行一次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「安裝.bat」把套件裝完。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822192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822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024128" y="378561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2E"/>
                </a:solidFill>
              </a:rPr>
              <a:t>確認三行都是 [OK]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024128" y="4078224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[OK] 核心 / [OK] C 案 / [OK] D 案。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出現 [--] 表示該介面不能用，其餘仍可運作。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274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89888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D86F0"/>
                </a:solidFill>
              </a:rPr>
              <a:t>03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5146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C 案　瀏覽器介面</a:t>
            </a:r>
            <a:endParaRPr lang="en-US" sz="3600" dirty="0"/>
          </a:p>
        </p:txBody>
      </p:sp>
      <p:sp>
        <p:nvSpPr>
          <p:cNvPr id="4" name="Text 2">
            <a:hlinkClick r:id="rId1" tooltip="" action="ppaction://hlinksldjump"/>
          </p:cNvPr>
          <p:cNvSpPr txBox="1"/>
          <p:nvPr/>
        </p:nvSpPr>
        <p:spPr>
          <a:xfrm>
            <a:off x="7406640" y="46634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C9C5F8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回目錄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步驟 1　檔案設定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0" y="47274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C_01_file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55684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556845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四個檔案由程式自動偵測，候選依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最後修改時間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排序，最新的排第一個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偵測是看「內容」不是看檔名 —— 把產出的 E-BOM 丟回資料夾不會被誤認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不對就按右邊的「瀏覽…」自己選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輸出路徑預設在 output\，副檔名一律強制 .xlsx</a:t>
            </a:r>
            <a:endParaRPr lang="en-US" sz="1100" dirty="0"/>
          </a:p>
        </p:txBody>
      </p:sp>
      <p:sp>
        <p:nvSpPr>
          <p:cNvPr id="7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確認 Text BOM 是你這次要跑的那一支。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選錯檔案是最常見的失誤。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274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檔案不在預設清單裡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0" y="47274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C_02_browse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55684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556845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展開「📂 目錄瀏覽器」就能自己翻資料夾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左邊是子資料夾，右邊是符合副檔名的檔案，後面附最後修改日期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「⬆ 上一層」往上、「🏠 程式目錄」跳回程式所在位置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點檔名即選取，上方的下拉選單會跟著換</a:t>
            </a:r>
            <a:endParaRPr lang="en-US" sz="1100" dirty="0"/>
          </a:p>
        </p:txBody>
      </p:sp>
      <p:sp>
        <p:nvSpPr>
          <p:cNvPr id="7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「瀏覽…」開的是 Windows 原生對話框，偶爾會躲在瀏覽器視窗後面。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找不到就改用目錄瀏覽器，功能一樣。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274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步驟 2　比對結果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0" y="47274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C_03_row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55684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556845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上方六個數字：總項次 / 輸出列數 / 命中 / 未命中 / Knowledge / Total Qty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表格可直接改 P/N、RC/EC、Description、Qty、Location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改完按「儲存修改」才會帶進產出的 Excel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狀態欄的 🟠🟡🟢⚪ 對應輸出 Excel 的橘／黃／綠底</a:t>
            </a:r>
            <a:endParaRPr lang="en-US" sz="1100" dirty="0"/>
          </a:p>
        </p:txBody>
      </p:sp>
      <p:sp>
        <p:nvSpPr>
          <p:cNvPr id="7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C 案的「✎ 編輯」頁籤不顯示色底 —— 這是 Streamlit 的限制。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要看色底請切到「🎨 色底檢視」頁籤（唯讀）。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274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步驟 3　產出 E-BOM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0" y="47274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C_04_expor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55684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556845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按「▶ 產出 Excel」，檔案直接寫到輸出路徑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下方日誌會列出 PCB 圖片尺寸、實際輸出路徑、項數與 Total Qty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「⤓ 下載 xlsx」可另存一份到瀏覽器的下載目錄</a:t>
            </a:r>
            <a:endParaRPr lang="en-US" sz="1100" dirty="0"/>
          </a:p>
        </p:txBody>
      </p:sp>
      <p:sp>
        <p:nvSpPr>
          <p:cNvPr id="7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最後一行的「113 項（含PCB）→ 138 列」要對得上預期。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列數比項數多，是因為替代料被拆成獨立列。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274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89888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D86F0"/>
                </a:solidFill>
              </a:rPr>
              <a:t>04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5146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D 案　原生視窗</a:t>
            </a:r>
            <a:endParaRPr lang="en-US" sz="3600" dirty="0"/>
          </a:p>
        </p:txBody>
      </p:sp>
      <p:sp>
        <p:nvSpPr>
          <p:cNvPr id="4" name="Text 2">
            <a:hlinkClick r:id="rId1" tooltip="" action="ppaction://hlinksldjump"/>
          </p:cNvPr>
          <p:cNvSpPr txBox="1"/>
          <p:nvPr/>
        </p:nvSpPr>
        <p:spPr>
          <a:xfrm>
            <a:off x="7406640" y="46634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C9C5F8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回目錄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步驟 1　檔案設定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0" y="47274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D_01_fil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48543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48543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欄位與 C 案相同，每個都有「瀏覽…」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Location TOP/BOT 對照表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：選填，給了就切換成雙面板模式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PCB 圖片（BOT 面）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：雙面板時提供兩張，圖片區自動切成上下兩半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「替代料拆列」打勾時一列只有一個 P/N；取消勾選會回到 a;b 單列格式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下方黑色區塊是執行日誌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按「▶ 執行比對」開始</a:t>
            </a:r>
            <a:endParaRPr lang="en-US" sz="1100" dirty="0"/>
          </a:p>
        </p:txBody>
      </p:sp>
      <p:sp>
        <p:nvSpPr>
          <p:cNvPr id="7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標題列會標出啟動用的 .bat：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BOM Matcher v0.08　[run_D_webview.bat]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274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步驟 2　比對結果與人工修正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0" y="47274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D_02_row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48543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48543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647777" y="2273963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563195" y="2189381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1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2030325" y="2818031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945743" y="2733449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2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1647777" y="1976426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563195" y="1891844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3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1647777" y="4237708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563195" y="4153126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4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①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點任何一列，右側會顯示該料件的 Footprint、RC/EC、P/N、比對狀態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②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未命中的列顯示「— 無命中 —」，直接在格子裡補料號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③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表格上方的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篩選鈕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：全部 / 未命中 / NC / 替代料 / Knowledge / 需確認 / Location 未知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④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底色與輸出 Excel 一致，編輯與色底可以並存</a:t>
            </a:r>
            <a:endParaRPr lang="en-US" sz="1100" dirty="0"/>
          </a:p>
        </p:txBody>
      </p:sp>
      <p:sp>
        <p:nvSpPr>
          <p:cNvPr id="15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改了 Qty，右上角的 Total Qty 會立刻跟著變，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可以用來確認改對了。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274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步驟 3　Knowledge 命中確認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0" y="47274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D_03_knowle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48543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48543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列出所有命中 Knowledge 的料件與對應注意事項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命中條件三選一：P/N 相同、品名是描述的子字串、包裝是描述的子字串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判斷不適用就按「✕ 忽略此筆」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忽略後該列不會標橘底，Note 也不會寫進 Excel</a:t>
            </a:r>
            <a:endParaRPr lang="en-US" sz="1100" dirty="0"/>
          </a:p>
        </p:txBody>
      </p:sp>
      <p:sp>
        <p:nvSpPr>
          <p:cNvPr id="7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包裝比對是子字串，可能誤命中。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例如品名「TVS」會命中講 SOD-523 的條目，要人工判斷。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274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步驟 4　表頭資訊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0" y="47274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D_04_head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48543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48543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對應輸出 Excel 的 rows 3–8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PCB板號 / PCB料號 / RC/EC NO. / PCB供應商 / PCB 規格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發行序號 / 發行(改版)日期 / 目前版次 / Support IC Type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留空就是空白，不影響其他功能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274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步驟 5　產出 E-BOM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0" y="47274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D_05_expo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48543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48543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確認輸出路徑後按「▶ 產出 Excel」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「開啟輸出資料夾」會直接叫出檔案總管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底部動作列隨時可以產出，不必回到這一頁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274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89888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D86F0"/>
                </a:solidFill>
              </a:rPr>
              <a:t>05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5146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雙面板　TOP / BOT</a:t>
            </a:r>
            <a:endParaRPr lang="en-US" sz="3600" dirty="0"/>
          </a:p>
        </p:txBody>
      </p:sp>
      <p:sp>
        <p:nvSpPr>
          <p:cNvPr id="4" name="Text 2">
            <a:hlinkClick r:id="rId1" tooltip="" action="ppaction://hlinksldjump"/>
          </p:cNvPr>
          <p:cNvSpPr txBox="1"/>
          <p:nvPr/>
        </p:nvSpPr>
        <p:spPr>
          <a:xfrm>
            <a:off x="7406640" y="46634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C9C5F8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回目錄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Location 查不到 Top/Bot 時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0" y="47274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D_06_unknow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48543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48543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441502" y="1976426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356920" y="1891844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1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1647777" y="2337721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563195" y="2253139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2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4036576" y="2388727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951994" y="2304145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3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4963192" y="3128320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878610" y="3043738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4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①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表格上方的「Location 未知」篩選鈕可以只看有問題的列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②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該列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淡紅底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，並在 Location-Bot 欄寫出是哪幾個 Location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③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Excel 的 H:O 欄也會寫同一段紅字警告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④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執行日誌會列出受影響的 Item、Qty 與 Location</a:t>
            </a:r>
            <a:endParaRPr lang="en-US" sz="1100" dirty="0"/>
          </a:p>
        </p:txBody>
      </p:sp>
      <p:sp>
        <p:nvSpPr>
          <p:cNvPr id="15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Item 77 的 4 個 Location 全部查不到 —— 若靜默略過，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TOP 和 BOT 都會是 0，4 顆電阻等於從兩面同時消失。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274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雙面板的三個規則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0" y="47274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sp>
        <p:nvSpPr>
          <p:cNvPr id="4" name="card0"/>
          <p:cNvSpPr/>
          <p:nvPr/>
        </p:nvSpPr>
        <p:spPr>
          <a:xfrm>
            <a:off x="457200" y="987552"/>
            <a:ext cx="2679192" cy="3200400"/>
          </a:xfrm>
          <a:prstGeom prst="roundRect">
            <a:avLst>
              <a:gd name="adj" fmla="val 2048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87552"/>
            <a:ext cx="2679192" cy="713232"/>
          </a:xfrm>
          <a:prstGeom prst="roundRect">
            <a:avLst>
              <a:gd name="adj" fmla="val 7692"/>
            </a:avLst>
          </a:prstGeom>
          <a:solidFill>
            <a:srgbClr val="6B71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03504" y="1078992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Location 對照表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03504" y="1371600"/>
            <a:ext cx="2386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7F5"/>
                </a:solidFill>
              </a:rPr>
              <a:t>xlsx 為主．txt 為輔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1856232"/>
            <a:ext cx="2350008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第一欄＝Location，第二欄＝Top/Bot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不看表頭名稱（實際檔案 TXT 是 T/B、XLSX 是 T_B）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TOP/T/BOT/B/BOTTOM 都接受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放程式目錄或 ExcelDB 底下</a:t>
            </a:r>
            <a:endParaRPr lang="en-US" sz="1100" dirty="0"/>
          </a:p>
        </p:txBody>
      </p:sp>
      <p:sp>
        <p:nvSpPr>
          <p:cNvPr id="9" name="card1"/>
          <p:cNvSpPr/>
          <p:nvPr/>
        </p:nvSpPr>
        <p:spPr>
          <a:xfrm>
            <a:off x="3319272" y="987552"/>
            <a:ext cx="2679192" cy="3200400"/>
          </a:xfrm>
          <a:prstGeom prst="roundRect">
            <a:avLst>
              <a:gd name="adj" fmla="val 2048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19272" y="987552"/>
            <a:ext cx="2679192" cy="713232"/>
          </a:xfrm>
          <a:prstGeom prst="roundRect">
            <a:avLst>
              <a:gd name="adj" fmla="val 7692"/>
            </a:avLst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65576" y="1078992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Excel 欄位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465576" y="1371600"/>
            <a:ext cx="2386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7F5"/>
                </a:solidFill>
              </a:rPr>
              <a:t>維持 15 欄（A:O）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3483864" y="1856232"/>
            <a:ext cx="2350008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F＝Location-Top Layer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G＝Location-Bottom Layer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H:O＝Knowledge Note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Qty 不變，TOP+BOT 各自計數</a:t>
            </a:r>
            <a:endParaRPr lang="en-US" sz="1100" dirty="0"/>
          </a:p>
        </p:txBody>
      </p:sp>
      <p:sp>
        <p:nvSpPr>
          <p:cNvPr id="14" name="card2"/>
          <p:cNvSpPr/>
          <p:nvPr/>
        </p:nvSpPr>
        <p:spPr>
          <a:xfrm>
            <a:off x="6181344" y="987552"/>
            <a:ext cx="2679192" cy="3200400"/>
          </a:xfrm>
          <a:prstGeom prst="roundRect">
            <a:avLst>
              <a:gd name="adj" fmla="val 2048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81344" y="987552"/>
            <a:ext cx="2679192" cy="713232"/>
          </a:xfrm>
          <a:prstGeom prst="roundRect">
            <a:avLst>
              <a:gd name="adj" fmla="val 7692"/>
            </a:avLst>
          </a:prstGeom>
          <a:solidFill>
            <a:srgbClr val="2F8F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27648" y="1078992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PCB 圖片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327648" y="1371600"/>
            <a:ext cx="2386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7F5"/>
                </a:solidFill>
              </a:rPr>
              <a:t>檔名含 top / bot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345936" y="1856232"/>
            <a:ext cx="2350008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pcb_top.jpg ＋ pcb_bot.jpg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圖片區切成上下兩半（rows 9-21 / 22-35）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只有一張圖就不切，維持整塊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沒有對照表＝單面板，與 v0.08 相同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274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89888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D86F0"/>
                </a:solidFill>
              </a:rPr>
              <a:t>06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5146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電容降壓選料　R8</a:t>
            </a:r>
            <a:endParaRPr lang="en-US" sz="3600" dirty="0"/>
          </a:p>
        </p:txBody>
      </p:sp>
      <p:sp>
        <p:nvSpPr>
          <p:cNvPr id="4" name="Text 2">
            <a:hlinkClick r:id="rId1" tooltip="" action="ppaction://hlinksldjump"/>
          </p:cNvPr>
          <p:cNvSpPr txBox="1"/>
          <p:nvPr/>
        </p:nvSpPr>
        <p:spPr>
          <a:xfrm>
            <a:off x="7406640" y="46634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C9C5F8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回目錄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耐壓低於原始設計的替代料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0" y="47274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D_07_r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48543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48543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275731" y="1955173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191149" y="1870591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1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1647777" y="2337721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563195" y="2253139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2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2625400" y="2337721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540818" y="2253139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3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2582894" y="4237708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498312" y="4153126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4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①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表格上方的「需確認」篩選鈕只看這一類，數字是筆數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②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容值與封裝一致、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DB 耐壓低於設計值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的電容才會進這一類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③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Description 自動加註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(原始設計為10V, 請再確認)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，原始耐壓寫在裡面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④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這些列標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紫底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，Excel 的圖例也會多一列說明</a:t>
            </a:r>
            <a:endParaRPr lang="en-US" sz="1100" dirty="0"/>
          </a:p>
        </p:txBody>
      </p:sp>
      <p:sp>
        <p:nvSpPr>
          <p:cNvPr id="15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只放寬電容的耐壓。電流與誤差不放寬 ——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耐壓不足看得到、可人工判斷；誤差或電流不符是功能性錯誤。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274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R8 怎麼判、怎麼確認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0" y="47274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1024128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024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024128" y="98755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2E"/>
                </a:solidFill>
              </a:rPr>
              <a:t>先找規格完全符合的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24128" y="1280160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耐壓 ≥ 設計值、誤差 ≤ 設計值、電流 ≥ 設計值。找得到就用，不會走 R8。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956816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956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192024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2E"/>
                </a:solidFill>
              </a:rPr>
              <a:t>一個都沒有才考慮降壓品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024128" y="2212848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同容值、同封裝，但耐壓低於設計值。耐壓最接近設計值的排第一個。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889504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889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024128" y="2852928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2E"/>
                </a:solidFill>
              </a:rPr>
              <a:t>註記寫進 Description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024128" y="3145536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例：A/CAP 4.7uF 0402 6.3V M(+-20%) X5R (原始設計為10V, 請再確認)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822192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822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024128" y="378561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2E"/>
                </a:solidFill>
              </a:rPr>
              <a:t>人工確認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024128" y="4078224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執行日誌會把每一筆列出來。確認可用就留著，不可用就在格子裡清掉料號。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274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89888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D86F0"/>
                </a:solidFill>
              </a:rPr>
              <a:t>07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5146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看懂產出的 Excel</a:t>
            </a:r>
            <a:endParaRPr lang="en-US" sz="3600" dirty="0"/>
          </a:p>
        </p:txBody>
      </p:sp>
      <p:sp>
        <p:nvSpPr>
          <p:cNvPr id="4" name="Text 2">
            <a:hlinkClick r:id="rId1" tooltip="" action="ppaction://hlinksldjump"/>
          </p:cNvPr>
          <p:cNvSpPr txBox="1"/>
          <p:nvPr/>
        </p:nvSpPr>
        <p:spPr>
          <a:xfrm>
            <a:off x="7406640" y="46634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C9C5F8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回目錄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色底規則與替代料拆列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0" y="47274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sp>
        <p:nvSpPr>
          <p:cNvPr id="4" name="lg0"/>
          <p:cNvSpPr/>
          <p:nvPr/>
        </p:nvSpPr>
        <p:spPr>
          <a:xfrm>
            <a:off x="457200" y="987552"/>
            <a:ext cx="4023360" cy="548640"/>
          </a:xfrm>
          <a:prstGeom prst="roundRect">
            <a:avLst>
              <a:gd name="adj" fmla="val 10000"/>
            </a:avLst>
          </a:prstGeom>
          <a:solidFill>
            <a:srgbClr val="FFE0B2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051560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C2E"/>
                </a:solidFill>
              </a:rPr>
              <a:t>橘底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051560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252"/>
                </a:solidFill>
              </a:rPr>
              <a:t>Knowledge 命中（優先序最高）</a:t>
            </a:r>
            <a:endParaRPr lang="en-US" sz="1100" dirty="0"/>
          </a:p>
        </p:txBody>
      </p:sp>
      <p:sp>
        <p:nvSpPr>
          <p:cNvPr id="7" name="lg1"/>
          <p:cNvSpPr/>
          <p:nvPr/>
        </p:nvSpPr>
        <p:spPr>
          <a:xfrm>
            <a:off x="457200" y="1645920"/>
            <a:ext cx="4023360" cy="548640"/>
          </a:xfrm>
          <a:prstGeom prst="roundRect">
            <a:avLst>
              <a:gd name="adj" fmla="val 10000"/>
            </a:avLst>
          </a:prstGeom>
          <a:solidFill>
            <a:srgbClr val="FFF2CC"/>
          </a:solidFill>
          <a:ln w="12700">
            <a:solidFill>
              <a:srgbClr val="E8B93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170992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C2E"/>
                </a:solidFill>
              </a:rPr>
              <a:t>黃底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1709928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252"/>
                </a:solidFill>
              </a:rPr>
              <a:t>原本為 NC 的零件</a:t>
            </a:r>
            <a:endParaRPr lang="en-US" sz="1100" dirty="0"/>
          </a:p>
        </p:txBody>
      </p:sp>
      <p:sp>
        <p:nvSpPr>
          <p:cNvPr id="10" name="lg2"/>
          <p:cNvSpPr/>
          <p:nvPr/>
        </p:nvSpPr>
        <p:spPr>
          <a:xfrm>
            <a:off x="457200" y="2304288"/>
            <a:ext cx="4023360" cy="548640"/>
          </a:xfrm>
          <a:prstGeom prst="roundRect">
            <a:avLst>
              <a:gd name="adj" fmla="val 10000"/>
            </a:avLst>
          </a:prstGeom>
          <a:solidFill>
            <a:srgbClr val="E2EFDA"/>
          </a:solidFill>
          <a:ln w="12700">
            <a:solidFill>
              <a:srgbClr val="0F9D5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1792" y="2368296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C2E"/>
                </a:solidFill>
              </a:rPr>
              <a:t>綠底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2368296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252"/>
                </a:solidFill>
              </a:rPr>
              <a:t>含替代料（已拆列）</a:t>
            </a:r>
            <a:endParaRPr lang="en-US" sz="1100" dirty="0"/>
          </a:p>
        </p:txBody>
      </p:sp>
      <p:sp>
        <p:nvSpPr>
          <p:cNvPr id="13" name="lg3"/>
          <p:cNvSpPr/>
          <p:nvPr/>
        </p:nvSpPr>
        <p:spPr>
          <a:xfrm>
            <a:off x="457200" y="2962656"/>
            <a:ext cx="4023360" cy="548640"/>
          </a:xfrm>
          <a:prstGeom prst="roundRect">
            <a:avLst>
              <a:gd name="adj" fmla="val 10000"/>
            </a:avLst>
          </a:prstGeom>
          <a:solidFill>
            <a:srgbClr val="D9E1F2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026664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C2E"/>
                </a:solidFill>
              </a:rPr>
              <a:t>藍底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417320" y="3026664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252"/>
                </a:solidFill>
              </a:rPr>
              <a:t>Total 合計列</a:t>
            </a:r>
            <a:endParaRPr lang="en-US" sz="1100" dirty="0"/>
          </a:p>
        </p:txBody>
      </p:sp>
      <p:sp>
        <p:nvSpPr>
          <p:cNvPr id="16" name="lg4"/>
          <p:cNvSpPr/>
          <p:nvPr/>
        </p:nvSpPr>
        <p:spPr>
          <a:xfrm>
            <a:off x="457200" y="3621024"/>
            <a:ext cx="4023360" cy="548640"/>
          </a:xfrm>
          <a:prstGeom prst="roundRect">
            <a:avLst>
              <a:gd name="adj" fmla="val 10000"/>
            </a:avLst>
          </a:prstGeom>
          <a:solidFill>
            <a:srgbClr val="EDE9FE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3685032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C2E"/>
                </a:solidFill>
              </a:rPr>
              <a:t>紫底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3685032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252"/>
                </a:solidFill>
              </a:rPr>
              <a:t>R8 降壓選料，Description 已註記，請人工確認</a:t>
            </a:r>
            <a:endParaRPr lang="en-US" sz="1100" dirty="0"/>
          </a:p>
        </p:txBody>
      </p:sp>
      <p:sp>
        <p:nvSpPr>
          <p:cNvPr id="19" name="lg5"/>
          <p:cNvSpPr/>
          <p:nvPr/>
        </p:nvSpPr>
        <p:spPr>
          <a:xfrm>
            <a:off x="457200" y="4279392"/>
            <a:ext cx="4023360" cy="548640"/>
          </a:xfrm>
          <a:prstGeom prst="roundRect">
            <a:avLst>
              <a:gd name="adj" fmla="val 10000"/>
            </a:avLst>
          </a:prstGeom>
          <a:solidFill>
            <a:srgbClr val="FDE1E1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1792" y="4343400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C2E"/>
                </a:solidFill>
              </a:rPr>
              <a:t>紅底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417320" y="4343400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252"/>
                </a:solidFill>
              </a:rPr>
              <a:t>有 Location 查不到 Top/Bot（雙面板專用）</a:t>
            </a:r>
            <a:endParaRPr lang="en-US" sz="1100" dirty="0"/>
          </a:p>
        </p:txBody>
      </p:sp>
      <p:sp>
        <p:nvSpPr>
          <p:cNvPr id="22" name="split"/>
          <p:cNvSpPr/>
          <p:nvPr/>
        </p:nvSpPr>
        <p:spPr>
          <a:xfrm>
            <a:off x="4754880" y="987552"/>
            <a:ext cx="4389120" cy="2633472"/>
          </a:xfrm>
          <a:prstGeom prst="roundRect">
            <a:avLst>
              <a:gd name="adj" fmla="val 2083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937760" y="10972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46E5"/>
                </a:solidFill>
              </a:rPr>
              <a:t>替代料拆列（v0.07 起）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937760" y="144475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1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v0.06　一列　P/N = 61041115;61041238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4937760" y="1783080"/>
            <a:ext cx="4023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A1C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v0.08　主列　Item=8  Qty=3  Location=C2,C3,C6  P/N=61041115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A1C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　　　　續列　Item=空 Qty=空 Location=空　　　 P/N=61041238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4937760" y="2596896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C4252"/>
                </a:solidFill>
              </a:rPr>
              <a:t>續列的 Description 是該替代料自己的 DB 描述。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C4252"/>
                </a:solidFill>
              </a:rPr>
              <a:t>Total Qty 只加總主列，不會因為拆列而重複計算。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274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資料夾規則與自動偵測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0" y="47274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87552"/>
          <a:ext cx="822960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743200"/>
                <a:gridCol w="42519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資料夾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放什麼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怎麼認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F46E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TXT\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Altium Text BOM（*.txt / *.BOM）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要有一列是 TAB 分隔的表頭，欄位含 Item / Quantity / Reference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F46E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ExcelDB\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零件資料庫 + Knowledge（*.xlsx）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零件庫第 1 列要有 P/N 與 Description；Knowledge 要有 品名 與 包裝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F46E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screenshot\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PCB 圖片（*.jpg / *.png）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pcb.* 優先，其餘依最後修改時間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F46E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output\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產出的 E-BOM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不存在時輸出到程式所在資料夾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2461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7180"/>
                </a:solidFill>
              </a:rPr>
              <a:t>四類候選都依「最後修改時間」排序，最新的排第一個並預設選中。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7180"/>
                </a:solidFill>
              </a:rPr>
              <a:t>這些子資料夾都是選用的，找不到就退回程式所在資料夾。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274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89888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D86F0"/>
                </a:solidFill>
              </a:rPr>
              <a:t>08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5146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疑難排解</a:t>
            </a:r>
            <a:endParaRPr lang="en-US" sz="3600" dirty="0"/>
          </a:p>
        </p:txBody>
      </p:sp>
      <p:sp>
        <p:nvSpPr>
          <p:cNvPr id="4" name="Text 2">
            <a:hlinkClick r:id="rId1" tooltip="" action="ppaction://hlinksldjump"/>
          </p:cNvPr>
          <p:cNvSpPr txBox="1"/>
          <p:nvPr/>
        </p:nvSpPr>
        <p:spPr>
          <a:xfrm>
            <a:off x="7406640" y="46634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C9C5F8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回目錄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常見問題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0" y="47274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sp>
        <p:nvSpPr>
          <p:cNvPr id="4" name="qa0"/>
          <p:cNvSpPr/>
          <p:nvPr/>
        </p:nvSpPr>
        <p:spPr>
          <a:xfrm>
            <a:off x="457200" y="987552"/>
            <a:ext cx="4023360" cy="1005840"/>
          </a:xfrm>
          <a:prstGeom prst="roundRect">
            <a:avLst>
              <a:gd name="adj" fmla="val 5455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3504" y="1078992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</a:rPr>
              <a:t>Q　</a:t>
            </a:r>
            <a:pPr indent="0" marL="0">
              <a:buNone/>
            </a:pPr>
            <a:r>
              <a:rPr lang="en-US" sz="1200" b="1" dirty="0">
                <a:solidFill>
                  <a:srgbClr val="1A1C2E"/>
                </a:solidFill>
              </a:rPr>
              <a:t>雙擊 .bat 一閃就關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3504" y="1389888"/>
            <a:ext cx="3730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C4252"/>
                </a:solidFill>
              </a:rPr>
              <a:t>沒裝 Python 或沒加入 PATH。先跑「安裝.bat」看訊息。</a:t>
            </a:r>
            <a:endParaRPr lang="en-US" sz="1050" dirty="0"/>
          </a:p>
        </p:txBody>
      </p:sp>
      <p:sp>
        <p:nvSpPr>
          <p:cNvPr id="7" name="qa1"/>
          <p:cNvSpPr/>
          <p:nvPr/>
        </p:nvSpPr>
        <p:spPr>
          <a:xfrm>
            <a:off x="4663440" y="987552"/>
            <a:ext cx="4023360" cy="1005840"/>
          </a:xfrm>
          <a:prstGeom prst="roundRect">
            <a:avLst>
              <a:gd name="adj" fmla="val 5455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9744" y="1078992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</a:rPr>
              <a:t>Q　</a:t>
            </a:r>
            <a:pPr indent="0" marL="0">
              <a:buNone/>
            </a:pPr>
            <a:r>
              <a:rPr lang="en-US" sz="1200" b="1" dirty="0">
                <a:solidFill>
                  <a:srgbClr val="1A1C2E"/>
                </a:solidFill>
              </a:rPr>
              <a:t>雙擊 .py 沒反應 / 閃退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809744" y="1389888"/>
            <a:ext cx="3730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C4252"/>
                </a:solidFill>
              </a:rPr>
              <a:t>C 案的 .py 必須用 streamlit 啟動，一律走 run_C_streamlit.bat。</a:t>
            </a:r>
            <a:endParaRPr lang="en-US" sz="1050" dirty="0"/>
          </a:p>
        </p:txBody>
      </p:sp>
      <p:sp>
        <p:nvSpPr>
          <p:cNvPr id="10" name="qa2"/>
          <p:cNvSpPr/>
          <p:nvPr/>
        </p:nvSpPr>
        <p:spPr>
          <a:xfrm>
            <a:off x="457200" y="2130552"/>
            <a:ext cx="4023360" cy="1005840"/>
          </a:xfrm>
          <a:prstGeom prst="roundRect">
            <a:avLst>
              <a:gd name="adj" fmla="val 5455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3504" y="2221992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</a:rPr>
              <a:t>Q　</a:t>
            </a:r>
            <a:pPr indent="0" marL="0">
              <a:buNone/>
            </a:pPr>
            <a:r>
              <a:rPr lang="en-US" sz="1200" b="1" dirty="0">
                <a:solidFill>
                  <a:srgbClr val="1A1C2E"/>
                </a:solidFill>
              </a:rPr>
              <a:t>C 案瀏覽器打不開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" y="2532888"/>
            <a:ext cx="3730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C4252"/>
                </a:solidFill>
              </a:rPr>
              <a:t>8601 埠被占用。改用 --server.port 8602 另開一個埠。</a:t>
            </a:r>
            <a:endParaRPr lang="en-US" sz="1050" dirty="0"/>
          </a:p>
        </p:txBody>
      </p:sp>
      <p:sp>
        <p:nvSpPr>
          <p:cNvPr id="13" name="qa3"/>
          <p:cNvSpPr/>
          <p:nvPr/>
        </p:nvSpPr>
        <p:spPr>
          <a:xfrm>
            <a:off x="4663440" y="2130552"/>
            <a:ext cx="4023360" cy="1005840"/>
          </a:xfrm>
          <a:prstGeom prst="roundRect">
            <a:avLst>
              <a:gd name="adj" fmla="val 5455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09744" y="2221992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</a:rPr>
              <a:t>Q　</a:t>
            </a:r>
            <a:pPr indent="0" marL="0">
              <a:buNone/>
            </a:pPr>
            <a:r>
              <a:rPr lang="en-US" sz="1200" b="1" dirty="0">
                <a:solidFill>
                  <a:srgbClr val="1A1C2E"/>
                </a:solidFill>
              </a:rPr>
              <a:t>D 案視窗開不起來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809744" y="2532888"/>
            <a:ext cx="3730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C4252"/>
                </a:solidFill>
              </a:rPr>
              <a:t>用 run_D_webview_debug.bat 看訊息，多半是缺 Edge WebView2 Runtime。</a:t>
            </a:r>
            <a:endParaRPr lang="en-US" sz="1050" dirty="0"/>
          </a:p>
        </p:txBody>
      </p:sp>
      <p:sp>
        <p:nvSpPr>
          <p:cNvPr id="16" name="qa4"/>
          <p:cNvSpPr/>
          <p:nvPr/>
        </p:nvSpPr>
        <p:spPr>
          <a:xfrm>
            <a:off x="457200" y="3273552"/>
            <a:ext cx="4023360" cy="1005840"/>
          </a:xfrm>
          <a:prstGeom prst="roundRect">
            <a:avLst>
              <a:gd name="adj" fmla="val 5455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03504" y="3364992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</a:rPr>
              <a:t>Q　</a:t>
            </a:r>
            <a:pPr indent="0" marL="0">
              <a:buNone/>
            </a:pPr>
            <a:r>
              <a:rPr lang="en-US" sz="1200" b="1" dirty="0">
                <a:solidFill>
                  <a:srgbClr val="1A1C2E"/>
                </a:solidFill>
              </a:rPr>
              <a:t>說找不到零件資料庫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03504" y="3675888"/>
            <a:ext cx="3730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C4252"/>
                </a:solidFill>
              </a:rPr>
              <a:t>檢查 xlsx 第 1 列是不是「P/N」與「Description」這兩個字。</a:t>
            </a:r>
            <a:endParaRPr lang="en-US" sz="1050" dirty="0"/>
          </a:p>
        </p:txBody>
      </p:sp>
      <p:sp>
        <p:nvSpPr>
          <p:cNvPr id="19" name="qa5"/>
          <p:cNvSpPr/>
          <p:nvPr/>
        </p:nvSpPr>
        <p:spPr>
          <a:xfrm>
            <a:off x="4663440" y="3273552"/>
            <a:ext cx="4023360" cy="1005840"/>
          </a:xfrm>
          <a:prstGeom prst="roundRect">
            <a:avLst>
              <a:gd name="adj" fmla="val 5455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09744" y="3364992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</a:rPr>
              <a:t>Q　</a:t>
            </a:r>
            <a:pPr indent="0" marL="0">
              <a:buNone/>
            </a:pPr>
            <a:r>
              <a:rPr lang="en-US" sz="1200" b="1" dirty="0">
                <a:solidFill>
                  <a:srgbClr val="1A1C2E"/>
                </a:solidFill>
              </a:rPr>
              <a:t>產出的檔案別的工具打不開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809744" y="3675888"/>
            <a:ext cx="3730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C4252"/>
                </a:solidFill>
              </a:rPr>
              <a:t>v0.08 起副檔名強制 .xlsx，不會再有 .xls 的問題。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274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v0.10 的重點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0" y="47274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75488" y="1088136"/>
            <a:ext cx="137160" cy="1371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98755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C2E"/>
                </a:solidFill>
              </a:rPr>
              <a:t>屬性式比對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3657600" y="100584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4252"/>
                </a:solidFill>
              </a:rPr>
              <a:t>Part 拆成值／耐壓／誤差／電流再比，不再整串找子字串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75488" y="1655064"/>
            <a:ext cx="137160" cy="137160"/>
          </a:xfrm>
          <a:prstGeom prst="ellipse">
            <a:avLst/>
          </a:prstGeom>
          <a:solidFill>
            <a:srgbClr val="0F9D58"/>
          </a:solidFill>
          <a:ln w="12700">
            <a:solidFill>
              <a:srgbClr val="0F9D5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155448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C2E"/>
                </a:solidFill>
              </a:rPr>
              <a:t>NC(...) 認得出來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657600" y="157276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4252"/>
                </a:solidFill>
              </a:rPr>
              <a:t>SM8008 有 26 項括號式 NC，v0.08 全部漏判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75488" y="2221992"/>
            <a:ext cx="137160" cy="137160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9808" y="212140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C2E"/>
                </a:solidFill>
              </a:rPr>
              <a:t>未命中會說原因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657600" y="213969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4252"/>
                </a:solidFill>
              </a:rPr>
              <a:t>不再靜默留白 —— 格式變了當場就看得到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75488" y="2788920"/>
            <a:ext cx="137160" cy="137160"/>
          </a:xfrm>
          <a:prstGeom prst="ellipse">
            <a:avLst/>
          </a:prstGeom>
          <a:solidFill>
            <a:srgbClr val="E8B931"/>
          </a:solidFill>
          <a:ln w="12700">
            <a:solidFill>
              <a:srgbClr val="E8B93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9808" y="2688336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C2E"/>
                </a:solidFill>
              </a:rPr>
              <a:t>雙面板 Top / Bot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657600" y="2706624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4252"/>
                </a:solidFill>
              </a:rPr>
              <a:t>F、G 兩欄＋兩張 PCB 圖＋Location 對不上三層警告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5488" y="3355848"/>
            <a:ext cx="137160" cy="137160"/>
          </a:xfrm>
          <a:prstGeom prst="ellipse">
            <a:avLst/>
          </a:prstGeom>
          <a:solidFill>
            <a:srgbClr val="6B7180"/>
          </a:solidFill>
          <a:ln w="12700">
            <a:solidFill>
              <a:srgbClr val="6B71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49808" y="325526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C2E"/>
                </a:solidFill>
              </a:rPr>
              <a:t>Location 加 (T)/(B)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657600" y="327355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4252"/>
                </a:solidFill>
              </a:rPr>
              <a:t>Location-Top / Location-Bottom 每個值都冠上 (T) 或 (B)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75488" y="3922776"/>
            <a:ext cx="137160" cy="1371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49808" y="382219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C2E"/>
                </a:solidFill>
              </a:rPr>
              <a:t>R8 電容降壓選料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3657600" y="384048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4252"/>
                </a:solidFill>
              </a:rPr>
              <a:t>耐壓不足可選，Description 註記「請再確認」並標紫底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75488" y="4489704"/>
            <a:ext cx="137160" cy="137160"/>
          </a:xfrm>
          <a:prstGeom prst="ellipse">
            <a:avLst/>
          </a:prstGeom>
          <a:solidFill>
            <a:srgbClr val="0F9D58"/>
          </a:solidFill>
          <a:ln w="12700">
            <a:solidFill>
              <a:srgbClr val="0F9D5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49808" y="438912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C2E"/>
                </a:solidFill>
              </a:rPr>
              <a:t>SM8008 命中 26 → 45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3657600" y="440740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4252"/>
                </a:solidFill>
              </a:rPr>
              <a:t>三份 BOM 回歸測試零退步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3977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180"/>
                </a:solidFill>
              </a:rPr>
              <a:t>完整清單見 changelog_BOM_matcher_v0.10.txt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274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BOM Matcher v0.10 操作 SOP</dc:title>
  <dc:subject>PptxGenJS Presentation</dc:subject>
  <dc:creator>ADATA Technology</dc:creator>
  <cp:lastModifiedBy>ADATA Technology</cp:lastModifiedBy>
  <cp:revision>1</cp:revision>
  <dcterms:created xsi:type="dcterms:W3CDTF">2026-10-20T06:10:00Z</dcterms:created>
  <dcterms:modified xsi:type="dcterms:W3CDTF">2026-10-20T06:10:00Z</dcterms:modified>
</cp:coreProperties>
</file>