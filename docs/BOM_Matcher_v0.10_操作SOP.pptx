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4f4466f0-01f8-4f90-f5c6-0351e72cd6d2}">
          <p14:sldIdLst>
            <p14:sldId id="256"/>
            <p14:sldId id="257"/>
          </p14:sldIdLst>
        </p14:section>
        <p14:section name="認識工具" id="{9fd58979-6f15-f47c-fc16-a12df874fc6a}">
          <p14:sldIdLst>
            <p14:sldId id="258"/>
            <p14:sldId id="259"/>
            <p14:sldId id="260"/>
          </p14:sldIdLst>
        </p14:section>
        <p14:section name="安裝" id="{ebd409df-9f22-5262-d6b0-e115a811023d}">
          <p14:sldIdLst>
            <p14:sldId id="261"/>
            <p14:sldId id="262"/>
            <p14:sldId id="263"/>
          </p14:sldIdLst>
        </p14:section>
        <p14:section name="C 案操作" id="{be76e9a2-9b4a-3a0a-3f2b-1a256fff626c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D 案操作" id="{be552fc7-7932-d2cb-6ad6-717fa0aeaa72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雙面板" id="{af00c104-5d4d-62fd-e54e-9b38508c9865}">
          <p14:sldIdLst>
            <p14:sldId id="277"/>
            <p14:sldId id="278"/>
            <p14:sldId id="279"/>
          </p14:sldIdLst>
        </p14:section>
        <p14:section name="降壓選料" id="{b2f47449-43b1-e86a-5332-fb4cd946a1d2}">
          <p14:sldIdLst>
            <p14:sldId id="280"/>
            <p14:sldId id="281"/>
            <p14:sldId id="282"/>
          </p14:sldIdLst>
        </p14:section>
        <p14:section name="看懂輸出" id="{9d38bf67-3f9f-d383-8045-ff7d5ffd6ebe}">
          <p14:sldIdLst>
            <p14:sldId id="283"/>
            <p14:sldId id="284"/>
            <p14:sldId id="285"/>
          </p14:sldIdLst>
        </p14:section>
        <p14:section name="疑難排解" id="{5a90a78a-8c8e-de78-715b-cdf1e0c3856d}">
          <p14:sldIdLst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Matcher 操作 SOP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目錄，含超連結。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這個工具在做什麼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三種介面（CLI / C 案 / D 案）共用同一份核心邏輯， 同一份輸入產出的 Excel 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run_CLI.bat：命令列；run_C_streamlit.bat：C 案．瀏覽器；run_D_webview.bat：D 案．原生視窗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兩包的程式本體與範例資料完全相同，差別只在「套件怎麼來」。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解壓縮到任意資料夾　2. 執行「安裝.bat」　3. 看到「請重開視窗」就再跑一次　4. 確認三行都是 [OK]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案　瀏覽器介面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上面四個檔案由程式自動偵測，候選依最後修改時間排序，最新的排第一個　「雙面板（選填）」區塊：Location TOP/BOT 對照表、PCB 圖片（BOT 面）　綠色「雙面板模式」／藍色「單面板模式」告訴你這次會怎麼輸出　不對就按右邊的「瀏覽…」，或選「— 手動輸入路徑 —」自己貼路徑　輸出路徑預設在 output\，副檔名一律強制 .xlsx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展開「📂 目錄瀏覽器」就能自己翻資料夾　左邊是子資料夾，右邊是符合副檔名的檔案，後面附最後修改日期　「⬆ 上一層」往上、「🏠 程式目錄」跳回程式所在位置　點檔名即選取，上方的下拉選單會跟著換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上方六個數字：總項次 / 輸出列數 / 命中 P/N / 未命中 / Knowledge / Total Qty　表格可直接改 P/N、RC/EC、Description、Qty、Location（帶 (T)/(B)，同 Excel）　改完按「儲存修改」才會帶進產出的 Excel　狀態欄：🔴 R8 降壓選料　⚠️ Location 未知　🟠🟡🟢 對應 Excel 色底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輸出路徑已經有同名檔時會出現黃色警告，要勾「確認覆蓋」才按得下去　按「▶ 產出 Excel」，檔案直接寫到輸出路徑　下方日誌會列出 PCB 圖片尺寸、實際輸出路徑、項數與 Total Qty　「⤓ 下載 xlsx」可另存一份到瀏覽器的下載目錄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只剩兩項：Print（列印目前頁面）、Record screen（把操作過程錄成影片）　Record screen 適合回報問題：錄下操作步驟，存成檔案寄給維護人員　Streamlit 的 Deploy 按鈕與開發者選項已經關掉，不會出現　要重抓資料夾裡的檔案，用左側「↺ 重新掃描目錄」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兩案共用同一份核心，同一份輸入產出的 Excel 完全相同。 Knowledge 與表頭的操作見 D 案步驟 3、4。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案　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欄位與 C 案相同；輸入檔按「瀏覽…」，輸出路徑按「變更…」　Location TOP/BOT 對照表：選填，給了就切換成雙面板模式　PCB 圖片（BOT 面）：雙面板時提供兩張，圖片區自動切成上下兩半　「替代料拆列」打勾時一列只有一個 P/N；取消勾選會回到 a;b 單列格式　下方黑色區塊是執行日誌　按「▶ 執行比對」開始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點任何一列，右側會顯示該料件的 Footprint、RC/EC、P/N、Qty、比對狀態　未命中的列顯示「— 無命中 —」，直接在格子裡補料號　表格上方的篩選鈕：全部 / 未命中 / NC / 替代料 / Knowledge / 需確認 / Location 未知，右邊還有搜尋框　色系與輸出 Excel 相同（畫面較淡）；R8 用紅點標示，Excel 是紫底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列出所有命中 Knowledge 的料件與對應注意事項　命中條件三選一：P/N 相同、品名是描述的子字串、包裝是描述的子字串　判斷不適用就按「✕ 忽略此筆」　忽略後該列不會標橘底，Note 也不會寫進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對應輸出 Excel 的 rows 3–8　PCB板號 / PCB料號 / RC/EC NO. / PCB供應商 / PCB 規格　發行序號 / 發行(改版)日期 / 目前版次 / Support IC Type　留空就是空白，不影響其他功能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確認輸出路徑後按「▶ 產出 Excel」　同名檔已經存在時會跳出確認視窗，按「取消」就不產出　「開啟輸出資料夾」會直接叫出檔案總管　檔案設定與比對結果頁的右上角也有「▶ 產出 E-BOM」，不必切到這一頁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雙面板　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表格上方的「Location 未知」篩選鈕可以只看有問題的列　該列淡紅底，並在 Location-Bot 欄寫出是哪幾個 Location　Excel 的 H:O 欄也會寫同一段紅字警告　執行日誌會列出受影響的 Item、Qty 與 Location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 對照表：xlsx 為主．txt 為輔；Excel 欄位：維持 15 欄（A:O）；PCB 圖片：檔名含 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電容降壓選料　R8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表格上方的「需確認」篩選鈕只看這一類，數字是筆數　容值與封裝一致、DB 耐壓低於設計值的電容才會進這一類　Description 自動加註 (原始設計為10V, 請再確認)，原始耐壓寫在裡面　畫面上以 🔴／紅點標示；輸出 Excel 標紫底，圖例也會多一列說明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先找規格完全符合的　2. 一個都沒有才考慮降壓品　3. 註記寫進 Description　4. 人工確認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看懂產出的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 Excel 的色底規則與替代料拆列。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四類候選都依「最後修改時間」排序，最新的排第一個並預設選中。 這些子資料夾都是選用的，找不到就退回程式所在資料夾。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疑難排解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雙擊 .bat 一閃就關　雙擊 .py 沒反應 / 閃退　C 案瀏覽器打不開　D 案視窗開不起來　說找不到零件資料庫　產出的檔案別的工具打不開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屬性式比對　NC(...) 認得出來　未命中會說原因　雙面板 Top / Bot　Location 加 (T)/(B)　R8 電容降壓選料　SM8008 命中 26 → 45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A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27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180"/>
                </a:solidFill>
              </a:rPr>
              <a:t>BOM Matcher v0.10 操作 SOP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766560" y="47274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180"/>
                </a:solidFill>
              </a:rPr>
              <a:t>2026-10-21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2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3.xml"/><Relationship Id="rId23" Type="http://schemas.openxmlformats.org/officeDocument/2006/relationships/slide" Target="slide14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5.xml"/><Relationship Id="rId27" Type="http://schemas.openxmlformats.org/officeDocument/2006/relationships/slide" Target="slide16.xml"/><Relationship Id="rId28" Type="http://schemas.openxmlformats.org/officeDocument/2006/relationships/slide" Target="slide16.xml"/><Relationship Id="rId29" Type="http://schemas.openxmlformats.org/officeDocument/2006/relationships/slide" Target="slide17.xml"/><Relationship Id="rId30" Type="http://schemas.openxmlformats.org/officeDocument/2006/relationships/slide" Target="slide17.xml"/><Relationship Id="rId31" Type="http://schemas.openxmlformats.org/officeDocument/2006/relationships/slide" Target="slide18.xml"/><Relationship Id="rId32" Type="http://schemas.openxmlformats.org/officeDocument/2006/relationships/slide" Target="slide18.xml"/><Relationship Id="rId33" Type="http://schemas.openxmlformats.org/officeDocument/2006/relationships/slide" Target="slide19.xml"/><Relationship Id="rId34" Type="http://schemas.openxmlformats.org/officeDocument/2006/relationships/slide" Target="slide19.xml"/><Relationship Id="rId35" Type="http://schemas.openxmlformats.org/officeDocument/2006/relationships/slide" Target="slide20.xml"/><Relationship Id="rId36" Type="http://schemas.openxmlformats.org/officeDocument/2006/relationships/slide" Target="slide20.xml"/><Relationship Id="rId37" Type="http://schemas.openxmlformats.org/officeDocument/2006/relationships/slide" Target="slide21.xml"/><Relationship Id="rId38" Type="http://schemas.openxmlformats.org/officeDocument/2006/relationships/slide" Target="slide21.xml"/><Relationship Id="rId39" Type="http://schemas.openxmlformats.org/officeDocument/2006/relationships/slide" Target="slide22.xml"/><Relationship Id="rId40" Type="http://schemas.openxmlformats.org/officeDocument/2006/relationships/slide" Target="slide22.xml"/><Relationship Id="rId41" Type="http://schemas.openxmlformats.org/officeDocument/2006/relationships/slide" Target="slide23.xml"/><Relationship Id="rId42" Type="http://schemas.openxmlformats.org/officeDocument/2006/relationships/slide" Target="slide23.xml"/><Relationship Id="rId43" Type="http://schemas.openxmlformats.org/officeDocument/2006/relationships/slide" Target="slide24.xml"/><Relationship Id="rId44" Type="http://schemas.openxmlformats.org/officeDocument/2006/relationships/slide" Target="slide24.xml"/><Relationship Id="rId45" Type="http://schemas.openxmlformats.org/officeDocument/2006/relationships/slide" Target="slide25.xml"/><Relationship Id="rId46" Type="http://schemas.openxmlformats.org/officeDocument/2006/relationships/slide" Target="slide25.xml"/><Relationship Id="rId47" Type="http://schemas.openxmlformats.org/officeDocument/2006/relationships/slide" Target="slide26.xml"/><Relationship Id="rId48" Type="http://schemas.openxmlformats.org/officeDocument/2006/relationships/slide" Target="slide26.xml"/><Relationship Id="rId49" Type="http://schemas.openxmlformats.org/officeDocument/2006/relationships/slide" Target="slide27.xml"/><Relationship Id="rId50" Type="http://schemas.openxmlformats.org/officeDocument/2006/relationships/slide" Target="slide27.xml"/><Relationship Id="rId51" Type="http://schemas.openxmlformats.org/officeDocument/2006/relationships/slide" Target="slide28.xml"/><Relationship Id="rId52" Type="http://schemas.openxmlformats.org/officeDocument/2006/relationships/slide" Target="slide28.xml"/><Relationship Id="rId53" Type="http://schemas.openxmlformats.org/officeDocument/2006/relationships/slide" Target="slide29.xml"/><Relationship Id="rId54" Type="http://schemas.openxmlformats.org/officeDocument/2006/relationships/slide" Target="slide29.xml"/><Relationship Id="rId55" Type="http://schemas.openxmlformats.org/officeDocument/2006/relationships/slide" Target="slide30.xml"/><Relationship Id="rId56" Type="http://schemas.openxmlformats.org/officeDocument/2006/relationships/slide" Target="slide30.xml"/><Relationship Id="rId57" Type="http://schemas.openxmlformats.org/officeDocument/2006/relationships/slide" Target="slide31.xml"/><Relationship Id="rId58" Type="http://schemas.openxmlformats.org/officeDocument/2006/relationships/slide" Target="slide31.xml"/><Relationship Id="rId59" Type="http://schemas.openxmlformats.org/officeDocument/2006/relationships/slide" Target="slide32.xml"/><Relationship Id="rId60" Type="http://schemas.openxmlformats.org/officeDocument/2006/relationships/slide" Target="slide32.xml"/><Relationship Id="rId61" Type="http://schemas.openxmlformats.org/officeDocument/2006/relationships/slide" Target="slide33.xml"/><Relationship Id="rId62" Type="http://schemas.openxmlformats.org/officeDocument/2006/relationships/slide" Target="slide33.xml"/><Relationship Id="rId63" Type="http://schemas.openxmlformats.org/officeDocument/2006/relationships/slideLayout" Target="../slideLayouts/slideLayout4.xml"/><Relationship Id="rId6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36192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BOM Matcher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A0F5"/>
                </a:solidFill>
              </a:rPr>
              <a:t>操作 SOP　v0.10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ADATA Technology　2026-10-21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Altium Text BOM ＋ 零件資料庫 → ADATA E-BOM Excel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146304" cy="146304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216152"/>
            <a:ext cx="146304" cy="146304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216152"/>
            <a:ext cx="146304" cy="146304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　這個工具在做什麼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391363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5334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五個輸入，一個輸出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13632" y="115334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1883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三種介面怎麼選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13632" y="131883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432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　安裝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148432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70498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兩種交付包怎麼選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13632" y="170498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87047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安裝步驟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187047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0359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　C 案　瀏覽器介面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03596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25661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225661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2211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檔案不在預設清單裡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42211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58760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913632" y="258760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5309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產出 E-BOM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913632" y="275309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91858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右上角的選單（三個點）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913632" y="291858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0840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C 案其他頁面與 D 案對照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13632" y="30840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249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2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　D 案　原生視窗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13632" y="3249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47022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13632" y="347022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63571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比對結果與人工修正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913632" y="363571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80120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Knowledge 命中確認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913632" y="380120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966697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4　表頭資訊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913632" y="3966697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13218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5　產出 E-BOM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913632" y="413218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66344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　雙面板　TOP / BOT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Location 查不到 Top/Bot 時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12618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1508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雙面板的三個規則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150876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663440" y="1755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　電容降壓選料　R8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119872" y="1755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4663440" y="208483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耐壓低於原始設計的替代料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19872" y="20848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26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663440" y="23317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R8 怎麼判、怎麼確認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119872" y="23317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27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663440" y="2578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　看懂產出的 Excel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119872" y="257860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28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663440" y="29077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色底規則與替代料拆列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119872" y="29077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29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4663440" y="3154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資料夾規則與自動偵測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119872" y="315468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30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663440" y="3401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08　疑難排解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119872" y="3401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4663440" y="373075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常見問題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8119872" y="373075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32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4663440" y="39776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6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v0.10 的重點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8119872" y="397764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33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0"/>
                </a:solidFill>
              </a:rPr>
              <a:t>點選任一列可直接跳到該頁；每頁右下角的「☰ 目錄」可以回到這裡。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這個工具在做什麼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五個輸入，一個輸出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in0"/>
          <p:cNvSpPr/>
          <p:nvPr/>
        </p:nvSpPr>
        <p:spPr>
          <a:xfrm>
            <a:off x="457200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Text BOM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Altium 匯出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*.txt 或 *.BOM</a:t>
            </a:r>
            <a:endParaRPr lang="en-US" sz="1000" dirty="0"/>
          </a:p>
        </p:txBody>
      </p:sp>
      <p:sp>
        <p:nvSpPr>
          <p:cNvPr id="8" name="in1"/>
          <p:cNvSpPr/>
          <p:nvPr/>
        </p:nvSpPr>
        <p:spPr>
          <a:xfrm>
            <a:off x="2137867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5883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9619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零件資料庫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265883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P/N + Description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2" name="in2"/>
          <p:cNvSpPr/>
          <p:nvPr/>
        </p:nvSpPr>
        <p:spPr>
          <a:xfrm>
            <a:off x="3818534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46550" y="1161288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20286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Knowledge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46550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品名 / 包裝 / 注意事項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6" name="in3"/>
          <p:cNvSpPr/>
          <p:nvPr/>
        </p:nvSpPr>
        <p:spPr>
          <a:xfrm>
            <a:off x="5499202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7218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00954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PCB 圖片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27218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TOP / BOT 各一張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嵌入 rows 9-35</a:t>
            </a:r>
            <a:endParaRPr lang="en-US" sz="1000" dirty="0"/>
          </a:p>
        </p:txBody>
      </p:sp>
      <p:sp>
        <p:nvSpPr>
          <p:cNvPr id="20" name="in4"/>
          <p:cNvSpPr/>
          <p:nvPr/>
        </p:nvSpPr>
        <p:spPr>
          <a:xfrm>
            <a:off x="7179869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07885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81621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Location 對照表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07885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選填，給了就是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雙面板．*.xlsx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10800000">
            <a:off x="4370832" y="2331720"/>
            <a:ext cx="402336" cy="274320"/>
          </a:xfrm>
          <a:prstGeom prst="triangl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out"/>
          <p:cNvSpPr/>
          <p:nvPr/>
        </p:nvSpPr>
        <p:spPr>
          <a:xfrm>
            <a:off x="457200" y="27249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EF0FF"/>
          </a:solidFill>
          <a:ln w="12700">
            <a:solidFill>
              <a:srgbClr val="C9CD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</a:rPr>
              <a:t>ADATA E-BOM 格式 Excel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72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表頭、PCB 圖、BOM 明細、Total、表尾一次做好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7673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三種介面（CLI / C 案 / D 案）共用同一份核心邏輯，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同一份輸入產出的 Excel 完全相同。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三種介面怎麼選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run_CLI.bat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命令列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不需要 streamlit / pywebview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最快、最穩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不能人工修正，直接出檔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第一次安裝完建議先跑這支確認環境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run_C_streamlit.bat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C 案．瀏覽器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在瀏覽器操作，localhost:8601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可編輯表格後再產出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色底需切到「色底檢視」頁籤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使用期間不能關掉黑色主控台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run_D_webview.bat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D 案．原生視窗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雙擊即開，不需要瀏覽器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三欄式，右側即時顯示明細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色底與編輯可以並存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篩選鈕＋搜尋框，快速找到要確認的列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安裝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兩種交付包怎麼選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mp0"/>
          <p:cNvSpPr/>
          <p:nvPr/>
        </p:nvSpPr>
        <p:spPr>
          <a:xfrm>
            <a:off x="45720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完整離線安裝版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112 MB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自帶 Python 安裝檔與全部套件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安裝過程完全不需要網路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產線機器、連不上外網的環境用這包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多了 python\ 與 wheels\ 兩個資料夾</a:t>
            </a:r>
            <a:endParaRPr lang="en-US" sz="1150" dirty="0"/>
          </a:p>
        </p:txBody>
      </p:sp>
      <p:sp>
        <p:nvSpPr>
          <p:cNvPr id="9" name="cmp1"/>
          <p:cNvSpPr/>
          <p:nvPr/>
        </p:nvSpPr>
        <p:spPr>
          <a:xfrm>
            <a:off x="466344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精簡版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0.2 MB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安裝時要連得上 python.org 與 PyPI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檔案小，好傳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辦公室機器用這包就夠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裝不起來時再改用完整離線版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80"/>
                </a:solidFill>
              </a:rPr>
              <a:t>兩包的程式本體與範例資料完全相同，差別只在「套件怎麼來」。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安裝步驟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解壓縮到任意資料夾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路徑不限。程式一律以「自己所在的資料夾」為工作目錄，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不必固定放哪裡。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執行「安裝.bat」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已經有 Python 會自動跳過，直接裝套件。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看到「請重開視窗」就再跑一次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Python 剛裝好時 PATH 還沒生效，關掉視窗再執行一次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「安裝.bat」把套件裝完。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確認三行都是 [OK]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[OK] 核心 / [OK] C 案 / [OK] D 案。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出現 [--] 表示該介面不能用，其餘仍可運作。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 案　瀏覽器介面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1_fil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上面四個檔案由程式自動偵測，候選依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最後修改時間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排序，最新的排第一個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「雙面板（選填）」區塊：Location TOP/BOT 對照表、PCB 圖片（BOT 面）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綠色「雙面板模式」／藍色「單面板模式」告訴你這次會怎麼輸出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不對就按右邊的「瀏覽…」，或選「— 手動輸入路徑 —」自己貼路徑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輸出路徑預設在 output\，副檔名一律強制 .xlsx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確認 Text BOM 是你這次要跑的那一支。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選錯檔案是最常見的失誤。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檔案不在預設清單裡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2_brows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展開「📂 目錄瀏覽器」就能自己翻資料夾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左邊是子資料夾，右邊是符合副檔名的檔案，後面附最後修改日期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「⬆ 上一層」往上、「🏠 程式目錄」跳回程式所在位置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點檔名即選取，上方的下拉選單會跟著換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「瀏覽…」開的是 Windows 原生對話框，偶爾會躲在瀏覽器視窗後面。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找不到就改用目錄瀏覽器，功能一樣。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3_row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上方六個數字：總項次 / 輸出列數 / 命中 P/N / 未命中 / Knowledge / Total Qty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表格可直接改 P/N、RC/EC、Description、Qty、Location（帶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(T)/(B)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，同 Excel）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改完按「儲存修改」才會帶進產出的 Excel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狀態欄：🔴 R8 降壓選料　⚠️ Location 未知　🟠🟡🟢 對應 Excel 色底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C 案的「✎ 編輯」頁籤不顯示色底 —— 這是 Streamlit 的限制。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要看色底請切到「🎨 色底檢視」頁籤（唯讀）。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4_expo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輸出路徑已經有同名檔時會出現黃色警告，要勾「確認覆蓋」才按得下去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按「▶ 產出 Excel」，檔案直接寫到輸出路徑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下方日誌會列出 PCB 圖片尺寸、實際輸出路徑、項數與 Total Qty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「⤓ 下載 xlsx」可另存一份到瀏覽器的下載目錄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最後一行的「113 項（含PCB）→ 151 列」要對得上預期。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列數比項數多，是因為替代料被拆成獨立列。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右上角的選單（三個點）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5_men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只剩兩項：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Print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（列印目前頁面）、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Record screen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（把操作過程錄成影片）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Record screen 適合回報問題：錄下操作步驟，存成檔案寄給維護人員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Streamlit 的 Deploy 按鈕與開發者選項已經關掉，不會出現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要重抓資料夾裡的檔案，用左側「↺ 重新掃描目錄」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瀏覽器重新整理（F5）會清掉這次的比對結果與手動修改，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要重新執行比對。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C 案其他頁面與 D 案對照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頁面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Knowledge 命中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每筆一張卡片，「✕ 忽略此筆」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同左（D 案步驟 3）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表頭資訊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九個欄位，留空就是空白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同左（D 案步驟 4）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色底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「🎨 色底檢視」頁籤（唯讀）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表格直接上色，可邊看邊改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覆蓋確認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勾「確認覆蓋」才能產出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跳出確認對話框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開啟時的頁面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比對結果（先按「▶ 執行比對」）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檔案設定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19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兩案共用同一份核心，同一份輸入產出的 Excel 完全相同。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Knowledge 與表頭的操作見 D 案步驟 3、4。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 案　原生視窗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欄位與 C 案相同；輸入檔按「瀏覽…」，輸出路徑按「變更…」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Location TOP/BOT 對照表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：選填，給了就切換成雙面板模式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PCB 圖片（BOT 面）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：雙面板時提供兩張，圖片區自動切成上下兩半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「替代料拆列」打勾時一列只有一個 P/N；取消勾選會回到 a;b 單列格式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下方黑色區塊是執行日誌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按「▶ 執行比對」開始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標題列會標出啟動用的 .bat：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BOM Matcher v0.10　[run_D_webview.bat]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比對結果與人工修正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2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7777" y="22739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63195" y="21893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030325" y="281803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45743" y="273344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647777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63195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647777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563195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點任何一列，右側會顯示該料件的 Footprint、RC/EC、P/N、Qty、比對狀態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未命中的列顯示「— 無命中 —」，直接在格子裡補料號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：全部 / 未命中 / NC / 替代料 / Knowledge / 需確認 / Location 未知，右邊還有搜尋框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色系與輸出 Excel 相同（畫面較淡）；R8 用紅點標示，Excel 是紫底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改了 Qty，右上角的 Total Qty 會立刻跟著變，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可以用來確認改對了。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Knowledge 命中確認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3_knowl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列出所有命中 Knowledge 的料件與對應注意事項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命中條件三選一：P/N 相同、品名是描述的子字串、包裝是描述的子字串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判斷不適用就按「✕ 忽略此筆」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忽略後該列不會標橘底，Note 也不會寫進 Excel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包裝比對是子字串，可能誤命中。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例如品名「TVS」會命中講 SOD-523 的條目，要人工判斷。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4　表頭資訊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4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對應輸出 Excel 的 rows 3–8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PCB板號 / PCB料號 / RC/EC NO. / PCB供應商 / PCB 規格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發行序號 / 發行(改版)日期 / 目前版次 / Support IC Type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留空就是空白，不影響其他功能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5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5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確認輸出路徑後按「▶ 產出 Excel」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同名檔已經存在時會跳出確認視窗，按「取消」就不產出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「開啟輸出資料夾」會直接叫出檔案總管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檔案設定與比對結果頁的右上角也有「▶ 產出 E-BOM」，不必切到這一頁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雙面板　TOP / BOT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Location 查不到 Top/Bot 時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6_unkn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41502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6920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36576" y="238872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1994" y="230414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6319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61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表格上方的「Location 未知」篩選鈕可以只看有問題的列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該列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淡紅底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，並在 Location-Bot 欄寫出是哪幾個 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Excel 的 H:O 欄也會寫同一段紅字警告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執行日誌會列出受影響的 Item、Qty 與 Location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Item 77 的 4 個 Location 全部查不到 —— 若靜默略過，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TOP 和 BOT 都會是 0，4 顆電阻等於從兩面同時消失。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雙面板的三個規則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Location 對照表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xlsx 為主．txt 為輔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第一欄＝Location，第二欄＝Top/Bot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不看表頭名稱（實際檔案 TXT 是 T/B、XLSX 是 T_B）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TOP/T/BOT/B/BOTTOM 都接受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放程式目錄或 ExcelDB\ 底下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Excel 欄位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維持 15 欄（A:O）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F＝Location-Top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G＝Location-Bottom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H:O＝Knowledge Note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Qty 不變，TOP+BOT 各自計數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檔名含 top / bot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pcb_top.jpg ＋ pcb_bot.jpg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圖片區切成上下兩半（rows 9-21 / 22-35）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只有一張圖就不切，維持整塊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沒有對照表＝單面板，與 v0.08 相同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電容降壓選料　R8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耐壓低於原始設計的替代料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7_r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75731" y="195517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91149" y="187059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25400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40818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2894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98312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表格上方的「需確認」篩選鈕只看這一類，數字是筆數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容值與封裝一致、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DB 耐壓低於設計值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的電容才會進這一類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Description 自動加註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(原始設計為10V, 請再確認)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，原始耐壓寫在裡面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畫面上以 🔴／紅點標示；輸出 Excel 標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紫底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，圖例也會多一列說明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只放寬電容的耐壓。電流與誤差不放寬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耐壓不足看得到、可人工判斷；誤差或電流不符是功能性錯誤。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R8 怎麼判、怎麼確認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先找規格完全符合的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耐壓 ≥ 設計值、誤差 ≤ 設計值、電流 ≥ 設計值。找得到就用，不會走 R8。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一個都沒有才考慮降壓品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同容值、同封裝，但耐壓低於設計值。耐壓最接近設計值的排第一個。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註記寫進 Description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例：A/CAP 4.7uF 0402 6.3V M(+-20%) X5R (原始設計為10V, 請再確認)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人工確認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執行日誌會把每一筆列出來。確認可用就留著，不可用就在格子裡清掉料號。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看懂產出的 Excel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色底規則與替代料拆列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lg0"/>
          <p:cNvSpPr/>
          <p:nvPr/>
        </p:nvSpPr>
        <p:spPr>
          <a:xfrm>
            <a:off x="457200" y="98755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515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橘底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51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Knowledge 命中（優先序最高）</a:t>
            </a:r>
            <a:endParaRPr lang="en-US" sz="1100" dirty="0"/>
          </a:p>
        </p:txBody>
      </p:sp>
      <p:sp>
        <p:nvSpPr>
          <p:cNvPr id="7" name="lg1"/>
          <p:cNvSpPr/>
          <p:nvPr/>
        </p:nvSpPr>
        <p:spPr>
          <a:xfrm>
            <a:off x="457200" y="16459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992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黃底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709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原本為 NC 的零件</a:t>
            </a:r>
            <a:endParaRPr lang="en-US" sz="1100" dirty="0"/>
          </a:p>
        </p:txBody>
      </p:sp>
      <p:sp>
        <p:nvSpPr>
          <p:cNvPr id="10" name="lg2"/>
          <p:cNvSpPr/>
          <p:nvPr/>
        </p:nvSpPr>
        <p:spPr>
          <a:xfrm>
            <a:off x="457200" y="23042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3682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綠底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368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含替代料（已拆列）</a:t>
            </a:r>
            <a:endParaRPr lang="en-US" sz="1100" dirty="0"/>
          </a:p>
        </p:txBody>
      </p:sp>
      <p:sp>
        <p:nvSpPr>
          <p:cNvPr id="13" name="lg3"/>
          <p:cNvSpPr/>
          <p:nvPr/>
        </p:nvSpPr>
        <p:spPr>
          <a:xfrm>
            <a:off x="457200" y="2962656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D9E1F2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藍底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2666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Total 合計列</a:t>
            </a:r>
            <a:endParaRPr lang="en-US" sz="1100" dirty="0"/>
          </a:p>
        </p:txBody>
      </p:sp>
      <p:sp>
        <p:nvSpPr>
          <p:cNvPr id="16" name="lg4"/>
          <p:cNvSpPr/>
          <p:nvPr/>
        </p:nvSpPr>
        <p:spPr>
          <a:xfrm>
            <a:off x="457200" y="3621024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8503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紫底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8503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R8 降壓選料，Description 已註記，請人工確認</a:t>
            </a:r>
            <a:endParaRPr lang="en-US" sz="1100" dirty="0"/>
          </a:p>
        </p:txBody>
      </p:sp>
      <p:sp>
        <p:nvSpPr>
          <p:cNvPr id="19" name="lg5"/>
          <p:cNvSpPr/>
          <p:nvPr/>
        </p:nvSpPr>
        <p:spPr>
          <a:xfrm>
            <a:off x="457200" y="427939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DE1E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34340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紅底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434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有 Location 查不到 Top/Bot（雙面板專用）</a:t>
            </a:r>
            <a:endParaRPr lang="en-US" sz="1100" dirty="0"/>
          </a:p>
        </p:txBody>
      </p:sp>
      <p:sp>
        <p:nvSpPr>
          <p:cNvPr id="22" name="split"/>
          <p:cNvSpPr/>
          <p:nvPr/>
        </p:nvSpPr>
        <p:spPr>
          <a:xfrm>
            <a:off x="4754880" y="987552"/>
            <a:ext cx="4389120" cy="2633472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替代料拆列（v0.07 起）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v0.06　一列　P/N = 61041115;61041238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78308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v0.08　主列　Item=8  Qty=3  Location=C2,C3,C6  P/N=61041115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續列　Item=空 Qty=空 Location=空　　　 P/N=61041238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259689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續列的 Description 是該替代料自己的 DB 描述。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Total Qty 只加總主列，不會因為拆列而重複計算。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資料夾規則與自動偵測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4251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放什麼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怎麼認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TXT\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Altium Text BOM（*.txt / *.BOM）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要有一列是 TAB 分隔的表頭，欄位含 Item / Quantity / Reference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ExcelDB\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零件資料庫 + Knowledge（*.xlsx）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零件庫第 1 列要有 P/N 與 Description；Knowledge 要有 品名 與 包裝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screenshot\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 圖片（*.jpg / *.png）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pcb.* 優先，其餘依最後修改時間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output\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產出的 E-BOM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不存在時輸出到程式所在資料夾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四類候選都依「最後修改時間」排序，最新的排第一個並預設選中。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這些子資料夾都是選用的，找不到就退回程式所在資料夾。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疑難排解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常見問題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qa0"/>
          <p:cNvSpPr/>
          <p:nvPr/>
        </p:nvSpPr>
        <p:spPr>
          <a:xfrm>
            <a:off x="45720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.bat 一閃就關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沒裝 Python 或沒加入 PATH。先跑「安裝.bat」看訊息。</a:t>
            </a:r>
            <a:endParaRPr lang="en-US" sz="1050" dirty="0"/>
          </a:p>
        </p:txBody>
      </p:sp>
      <p:sp>
        <p:nvSpPr>
          <p:cNvPr id="7" name="qa1"/>
          <p:cNvSpPr/>
          <p:nvPr/>
        </p:nvSpPr>
        <p:spPr>
          <a:xfrm>
            <a:off x="466344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974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.py 沒反應 / 閃退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974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C 案的 .py 必須用 streamlit 啟動，一律走 run_C_streamlit.bat。</a:t>
            </a:r>
            <a:endParaRPr lang="en-US" sz="1050" dirty="0"/>
          </a:p>
        </p:txBody>
      </p:sp>
      <p:sp>
        <p:nvSpPr>
          <p:cNvPr id="10" name="qa2"/>
          <p:cNvSpPr/>
          <p:nvPr/>
        </p:nvSpPr>
        <p:spPr>
          <a:xfrm>
            <a:off x="45720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C 案瀏覽器打不開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8601 埠被占用。改用 --server.port 8602 另開一個埠。</a:t>
            </a:r>
            <a:endParaRPr lang="en-US" sz="1050" dirty="0"/>
          </a:p>
        </p:txBody>
      </p:sp>
      <p:sp>
        <p:nvSpPr>
          <p:cNvPr id="13" name="qa3"/>
          <p:cNvSpPr/>
          <p:nvPr/>
        </p:nvSpPr>
        <p:spPr>
          <a:xfrm>
            <a:off x="466344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D 案視窗開不起來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用 run_D_webview_debug.bat 看訊息，多半是缺 Edge WebView2 Runtime。</a:t>
            </a:r>
            <a:endParaRPr lang="en-US" sz="1050" dirty="0"/>
          </a:p>
        </p:txBody>
      </p:sp>
      <p:sp>
        <p:nvSpPr>
          <p:cNvPr id="16" name="qa4"/>
          <p:cNvSpPr/>
          <p:nvPr/>
        </p:nvSpPr>
        <p:spPr>
          <a:xfrm>
            <a:off x="45720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說找不到零件資料庫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檢查 xlsx 第 1 列是不是「P/N」與「Description」這兩個字。</a:t>
            </a:r>
            <a:endParaRPr lang="en-US" sz="1050" dirty="0"/>
          </a:p>
        </p:txBody>
      </p:sp>
      <p:sp>
        <p:nvSpPr>
          <p:cNvPr id="19" name="qa5"/>
          <p:cNvSpPr/>
          <p:nvPr/>
        </p:nvSpPr>
        <p:spPr>
          <a:xfrm>
            <a:off x="466344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974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產出的檔案別的工具打不開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v0.08 起副檔名強制 .xlsx，不會再有 .xls 的問題。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v0.10 的重點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0" y="47274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75488" y="108813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987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屬性式比對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05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Part 拆成值／耐壓／誤差／電流再比，不再整串找子字串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" y="165506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NC(...) 認得出來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SM8008 有 26 項括號式 NC，v0.08 全部漏判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37160" cy="137160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1214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未命中會說原因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1396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不再靜默留白 —— 格式變了當場就看得到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788920"/>
            <a:ext cx="137160" cy="137160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雙面板 Top / 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F、G 兩欄＋兩張 PCB 圖＋Location 對不上三層警告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355848"/>
            <a:ext cx="137160" cy="137160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2552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Location 加 (T)/(B)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73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Excel 與 C/D 畫面的 Location-Top / Bot 每個值都冠上 (T) 或 (B)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92277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R8 電容降壓選料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840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耐壓不足可選，Description 註記「請再確認」並標紫底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" y="448970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389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SM8008 命中 26 → 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407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三份 BOM 回歸測試零退步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0"/>
                </a:solidFill>
              </a:rPr>
              <a:t>完整清單見 changelog_BOM_matcher_v0.10.txt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274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 Matcher v0.10 操作 SOP</dc:title>
  <dc:subject>PptxGenJS Presentation</dc:subject>
  <dc:creator>ADATA Technology</dc:creator>
  <cp:lastModifiedBy>ADATA Technology</cp:lastModifiedBy>
  <cp:revision>1</cp:revision>
  <dcterms:created xsi:type="dcterms:W3CDTF">2026-10-21T07:19:36Z</dcterms:created>
  <dcterms:modified xsi:type="dcterms:W3CDTF">2026-10-21T07:19:36Z</dcterms:modified>
</cp:coreProperties>
</file>