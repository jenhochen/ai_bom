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" id="{594fb553-3147-d913-d485-1705a92ae6c5}">
          <p14:sldIdLst>
            <p14:sldId id="256"/>
            <p14:sldId id="257"/>
          </p14:sldIdLst>
        </p14:section>
        <p14:section name="認識工具" id="{9cc9ce74-c960-03f6-f3a0-649197dcd52e}">
          <p14:sldIdLst>
            <p14:sldId id="258"/>
            <p14:sldId id="259"/>
            <p14:sldId id="260"/>
          </p14:sldIdLst>
        </p14:section>
        <p14:section name="安裝" id="{2df34045-c8ec-c341-bbfc-bfe8603bf01a}">
          <p14:sldIdLst>
            <p14:sldId id="261"/>
            <p14:sldId id="262"/>
            <p14:sldId id="263"/>
          </p14:sldIdLst>
        </p14:section>
        <p14:section name="S 案操作" id="{19eec0ab-6b6f-b5ef-6405-cdb950078810}">
          <p14:sldIdLst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W 案操作" id="{75a0fecb-2c70-d113-3301-cfa21a68fa39}">
          <p14:sldIdLst>
            <p14:sldId id="271"/>
            <p14:sldId id="272"/>
            <p14:sldId id="273"/>
            <p14:sldId id="274"/>
            <p14:sldId id="275"/>
            <p14:sldId id="276"/>
          </p14:sldIdLst>
        </p14:section>
        <p14:section name="雙面板" id="{e3764f58-83f7-ea2d-89bf-ac463b216f1b}">
          <p14:sldIdLst>
            <p14:sldId id="277"/>
            <p14:sldId id="278"/>
            <p14:sldId id="279"/>
          </p14:sldIdLst>
        </p14:section>
        <p14:section name="降壓選料" id="{686635fd-8d48-8f0a-058b-40925223b771}">
          <p14:sldIdLst>
            <p14:sldId id="280"/>
            <p14:sldId id="281"/>
            <p14:sldId id="282"/>
          </p14:sldIdLst>
        </p14:section>
        <p14:section name="看懂輸出" id="{6609de68-67c7-f6d0-4ee7-5888859be33a}">
          <p14:sldIdLst>
            <p14:sldId id="283"/>
            <p14:sldId id="284"/>
            <p14:sldId id="285"/>
          </p14:sldIdLst>
        </p14:section>
        <p14:section name="疑難排解" id="{5b266d42-bfbe-fc96-3f52-78b786c7fe05}">
          <p14:sldIdLst>
            <p14:sldId id="286"/>
            <p14:sldId id="287"/>
            <p14:sldId id="28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BOM Matcher 操作 SOP 封面。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目錄，含超連結。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這個工具在做什麼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三種介面（CLI / S 案 / W 案）共用同一份核心邏輯， 同一份輸入產出的 Excel 完全相同。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run_CLI.bat：命令列；run_S_streamlit.bat：S 案．瀏覽器；run_W_webview.bat：W 案．原生視窗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安裝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兩包的程式本體與範例資料完全相同，差別只在「套件怎麼來」。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解壓縮到任意資料夾　2. 執行「安裝.bat」　3. 看到「請重開視窗」就再跑一次　4. 確認三行都是 [OK]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 案　瀏覽器介面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上面四個檔案由程式自動偵測，候選依最後修改時間排序，最新的排第一個　「雙面板（選填）」區塊：Location TOP/BOT 對照表、PCB 圖片（BOT 面）　不對就按右邊的「瀏覽…」，或選「— 手動輸入路徑 —」自己貼路徑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展開「📂 目錄瀏覽器」就能自己翻資料夾　左邊是子資料夾，右邊是符合副檔名的檔案，後面附最後修改日期　「⬆ 上一層」往上、「🏠 程式目錄」跳回程式所在位置　點檔名即選取，上方的下拉選單會跟著換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上方六個數字：總項次 / 輸出列數 / 命中 P/N / 未命中 / Knowledge / Total Qty　「⤢ 放大表格」一次看三倍的列數（151 列預設只看得到十幾列）　表格可直接改 P/N、RC/EC、Description、Qty、Location（帶 (T)/(B)，同 Excel）　狀態欄：🔴 R8 降壓選料　⚠️ Location 未知　🟠🟡🟢 對應 Excel 色底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上方灰框是這次要寫出去的完整路徑　已經有同名檔時會出現黃色警告　要勾「確認覆蓋」，「▶ 產出 Excel」才按得下去（沒勾是灰的）　下方日誌和 W 案同一套配色：✓ 綠、[請人工確認] / [警告] / [提示] 紅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只剩兩項：Print（列印目前頁面）、Record screen（把操作過程錄成影片）　Record screen 適合回報問題：錄下操作步驟，存成檔案寄給維護人員　Streamlit 的 Deploy 按鈕與開發者選項已經關掉，不會出現　要重抓資料夾裡的檔案，用左側「↺ 重新掃描目錄」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兩案共用同一份核心，同一份輸入產出的 Excel 完全相同。 Knowledge 與表頭的操作見 W 案步驟 3、4。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 案　原生視窗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欄位與 S 案相同；輸入檔按「瀏覽…」，輸出路徑按「變更…」　Location TOP/BOT 對照表：選填，給了就切換成雙面板模式　PCB 圖片（BOT 面）：雙面板時提供兩張，圖片區自動切成上下兩半　「替代料拆列」打勾時一列只有一個 P/N；取消勾選會回到 a;b 單列格式　下方黑色區塊是執行日誌　按「▶ 執行比對」開始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表格上方的篩選鈕：全部 / 未命中 / NC / 替代料 / Knowledge / 需確認 / Location 未知，右邊還有搜尋框　所有欄位都在表格裡改：RC/EC 是下拉，其餘直接點進格子打字　未命中的列顯示「— 無命中 —」，直接在格子裡補料號　滑過 Description 會跳氣泡，顯示 Footprint、原始 Part、比對狀態與完整描述　Location 欄放不下時一樣跳氣泡，列出完整清單與個數　下方「執行日誌」整列寬，可收合；[請人工確認] / [警告] / [提示] 是紅字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列出所有命中 Knowledge 的料件與對應注意事項　命中條件三選一：P/N 相同、品名是描述的子字串、包裝是描述的子字串　判斷不適用就按「✕ 忽略此筆」　忽略後該列不會標橘底，Note 也不會寫進 Excel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對應輸出 Excel 的 rows 3–8　PCB板號 / PCB料號 / RC/EC NO. / PCB供應商 / PCB 規格　發行序號 / 發行(改版)日期 / 目前版次 / Support IC Type　留空就是空白，不影響其他功能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輸出路徑可以直接在這裡改，或按右邊的「變更…」　確認無誤後按「▶ 產出 Excel」　「開啟輸出資料夾」會直接叫出檔案總管　同名檔會先跳確認視窗；按「取消」就不產出，確定覆蓋時日誌會留下紀錄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雙面板　TOP / BOT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表格上方的「Location 未知」篩選鈕可以只看有問題的列　該列淡紅底，並在 Location-Bot 欄寫出是哪幾個 Location　Excel 的 H:O 欄也會寫同一段紅字警告　執行日誌會列出受影響的 Item、Qty 與 Location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Location 對照表：xlsx 為主．txt 為輔；Excel 欄位：維持 15 欄（A:O）；PCB 圖片：檔名含 top / bot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電容降壓選料　R8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表格上方的「需確認」篩選鈕只看這一類，數字是筆數　容值與封裝一致、DB 耐壓低於設計值的電容才會進這一類　Description 自動加註 (原始設計為10V, 請再確認)，原始耐壓寫在裡面　畫面上以 🔴／紅點標示；輸出 Excel 標紫底，圖例也會多一列說明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先找規格完全符合的　2. 一個都沒有才考慮降壓品　3. 註記寫進 Description　4. 人工確認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看懂產出的 Excel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輸出 Excel 的色底規則與替代料拆列。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四類候選都依「最後修改時間」排序，最新的排第一個並預設選中。 這些子資料夾都是選用的，找不到就退回程式所在資料夾。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疑難排解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雙擊 .bat 一閃就關　雙擊 .py 沒反應 / 閃退　S 案瀏覽器打不開　W 案視窗開不起來　說找不到零件資料庫　產出的檔案別的工具打不開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屬性式比對　NC(...) 認得出來　未命中會說原因　雙面板 Top / Bot　Location 加 (T)/(B)　R8 電容降壓選料　SM8008 命中 26 → 45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A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rgbClr val="4F46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4.xml"/><Relationship Id="rId5" Type="http://schemas.openxmlformats.org/officeDocument/2006/relationships/slide" Target="slide5.xml"/><Relationship Id="rId6" Type="http://schemas.openxmlformats.org/officeDocument/2006/relationships/slide" Target="slide5.xml"/><Relationship Id="rId7" Type="http://schemas.openxmlformats.org/officeDocument/2006/relationships/slide" Target="slide6.xml"/><Relationship Id="rId8" Type="http://schemas.openxmlformats.org/officeDocument/2006/relationships/slide" Target="slide6.xml"/><Relationship Id="rId9" Type="http://schemas.openxmlformats.org/officeDocument/2006/relationships/slide" Target="slide7.xml"/><Relationship Id="rId10" Type="http://schemas.openxmlformats.org/officeDocument/2006/relationships/slide" Target="slide7.xml"/><Relationship Id="rId11" Type="http://schemas.openxmlformats.org/officeDocument/2006/relationships/slide" Target="slide8.xml"/><Relationship Id="rId12" Type="http://schemas.openxmlformats.org/officeDocument/2006/relationships/slide" Target="slide8.xml"/><Relationship Id="rId13" Type="http://schemas.openxmlformats.org/officeDocument/2006/relationships/slide" Target="slide9.xml"/><Relationship Id="rId14" Type="http://schemas.openxmlformats.org/officeDocument/2006/relationships/slide" Target="slide9.xml"/><Relationship Id="rId15" Type="http://schemas.openxmlformats.org/officeDocument/2006/relationships/slide" Target="slide10.xml"/><Relationship Id="rId16" Type="http://schemas.openxmlformats.org/officeDocument/2006/relationships/slide" Target="slide10.xml"/><Relationship Id="rId17" Type="http://schemas.openxmlformats.org/officeDocument/2006/relationships/slide" Target="slide11.xml"/><Relationship Id="rId18" Type="http://schemas.openxmlformats.org/officeDocument/2006/relationships/slide" Target="slide11.xml"/><Relationship Id="rId19" Type="http://schemas.openxmlformats.org/officeDocument/2006/relationships/slide" Target="slide12.xml"/><Relationship Id="rId20" Type="http://schemas.openxmlformats.org/officeDocument/2006/relationships/slide" Target="slide12.xml"/><Relationship Id="rId21" Type="http://schemas.openxmlformats.org/officeDocument/2006/relationships/slide" Target="slide13.xml"/><Relationship Id="rId22" Type="http://schemas.openxmlformats.org/officeDocument/2006/relationships/slide" Target="slide13.xml"/><Relationship Id="rId23" Type="http://schemas.openxmlformats.org/officeDocument/2006/relationships/slide" Target="slide14.xml"/><Relationship Id="rId24" Type="http://schemas.openxmlformats.org/officeDocument/2006/relationships/slide" Target="slide14.xml"/><Relationship Id="rId25" Type="http://schemas.openxmlformats.org/officeDocument/2006/relationships/slide" Target="slide15.xml"/><Relationship Id="rId26" Type="http://schemas.openxmlformats.org/officeDocument/2006/relationships/slide" Target="slide15.xml"/><Relationship Id="rId27" Type="http://schemas.openxmlformats.org/officeDocument/2006/relationships/slide" Target="slide16.xml"/><Relationship Id="rId28" Type="http://schemas.openxmlformats.org/officeDocument/2006/relationships/slide" Target="slide16.xml"/><Relationship Id="rId29" Type="http://schemas.openxmlformats.org/officeDocument/2006/relationships/slide" Target="slide17.xml"/><Relationship Id="rId30" Type="http://schemas.openxmlformats.org/officeDocument/2006/relationships/slide" Target="slide17.xml"/><Relationship Id="rId31" Type="http://schemas.openxmlformats.org/officeDocument/2006/relationships/slide" Target="slide18.xml"/><Relationship Id="rId32" Type="http://schemas.openxmlformats.org/officeDocument/2006/relationships/slide" Target="slide18.xml"/><Relationship Id="rId33" Type="http://schemas.openxmlformats.org/officeDocument/2006/relationships/slide" Target="slide19.xml"/><Relationship Id="rId34" Type="http://schemas.openxmlformats.org/officeDocument/2006/relationships/slide" Target="slide19.xml"/><Relationship Id="rId35" Type="http://schemas.openxmlformats.org/officeDocument/2006/relationships/slide" Target="slide20.xml"/><Relationship Id="rId36" Type="http://schemas.openxmlformats.org/officeDocument/2006/relationships/slide" Target="slide20.xml"/><Relationship Id="rId37" Type="http://schemas.openxmlformats.org/officeDocument/2006/relationships/slide" Target="slide21.xml"/><Relationship Id="rId38" Type="http://schemas.openxmlformats.org/officeDocument/2006/relationships/slide" Target="slide21.xml"/><Relationship Id="rId39" Type="http://schemas.openxmlformats.org/officeDocument/2006/relationships/slide" Target="slide22.xml"/><Relationship Id="rId40" Type="http://schemas.openxmlformats.org/officeDocument/2006/relationships/slide" Target="slide22.xml"/><Relationship Id="rId41" Type="http://schemas.openxmlformats.org/officeDocument/2006/relationships/slide" Target="slide23.xml"/><Relationship Id="rId42" Type="http://schemas.openxmlformats.org/officeDocument/2006/relationships/slide" Target="slide23.xml"/><Relationship Id="rId43" Type="http://schemas.openxmlformats.org/officeDocument/2006/relationships/slide" Target="slide24.xml"/><Relationship Id="rId44" Type="http://schemas.openxmlformats.org/officeDocument/2006/relationships/slide" Target="slide24.xml"/><Relationship Id="rId45" Type="http://schemas.openxmlformats.org/officeDocument/2006/relationships/slide" Target="slide25.xml"/><Relationship Id="rId46" Type="http://schemas.openxmlformats.org/officeDocument/2006/relationships/slide" Target="slide25.xml"/><Relationship Id="rId47" Type="http://schemas.openxmlformats.org/officeDocument/2006/relationships/slide" Target="slide26.xml"/><Relationship Id="rId48" Type="http://schemas.openxmlformats.org/officeDocument/2006/relationships/slide" Target="slide26.xml"/><Relationship Id="rId49" Type="http://schemas.openxmlformats.org/officeDocument/2006/relationships/slide" Target="slide27.xml"/><Relationship Id="rId50" Type="http://schemas.openxmlformats.org/officeDocument/2006/relationships/slide" Target="slide27.xml"/><Relationship Id="rId51" Type="http://schemas.openxmlformats.org/officeDocument/2006/relationships/slide" Target="slide28.xml"/><Relationship Id="rId52" Type="http://schemas.openxmlformats.org/officeDocument/2006/relationships/slide" Target="slide28.xml"/><Relationship Id="rId53" Type="http://schemas.openxmlformats.org/officeDocument/2006/relationships/slide" Target="slide29.xml"/><Relationship Id="rId54" Type="http://schemas.openxmlformats.org/officeDocument/2006/relationships/slide" Target="slide29.xml"/><Relationship Id="rId55" Type="http://schemas.openxmlformats.org/officeDocument/2006/relationships/slide" Target="slide30.xml"/><Relationship Id="rId56" Type="http://schemas.openxmlformats.org/officeDocument/2006/relationships/slide" Target="slide30.xml"/><Relationship Id="rId57" Type="http://schemas.openxmlformats.org/officeDocument/2006/relationships/slide" Target="slide31.xml"/><Relationship Id="rId58" Type="http://schemas.openxmlformats.org/officeDocument/2006/relationships/slide" Target="slide31.xml"/><Relationship Id="rId59" Type="http://schemas.openxmlformats.org/officeDocument/2006/relationships/slide" Target="slide32.xml"/><Relationship Id="rId60" Type="http://schemas.openxmlformats.org/officeDocument/2006/relationships/slide" Target="slide32.xml"/><Relationship Id="rId61" Type="http://schemas.openxmlformats.org/officeDocument/2006/relationships/slide" Target="slide33.xml"/><Relationship Id="rId62" Type="http://schemas.openxmlformats.org/officeDocument/2006/relationships/slide" Target="slide33.xml"/><Relationship Id="rId63" Type="http://schemas.openxmlformats.org/officeDocument/2006/relationships/slideLayout" Target="../slideLayouts/slideLayout4.xml"/><Relationship Id="rId6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image" Target="../media/image-10-1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image" Target="../media/image-11-1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image" Target="../media/image-12-1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image" Target="../media/image-13-1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image" Target="../media/image-14-1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image" Target="../media/image-17-1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image" Target="../media/image-18-1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image" Target="../media/image-19-1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image" Target="../media/image-20-1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image" Target="../media/image-21-1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image" Target="../media/image-23-1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image" Target="../media/image-26-1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536192"/>
            <a:ext cx="7863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BOM Matcher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487168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5A0F5"/>
                </a:solidFill>
              </a:rPr>
              <a:t>操作 SOP　v0.10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88620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9AA0AE"/>
                </a:solidFill>
              </a:rPr>
              <a:t>ADATA Technology　2026-10-21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9AA0AE"/>
                </a:solidFill>
              </a:rPr>
              <a:t>Altium Text BOM ＋ 零件資料庫 → ADATA E-BOM Excel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216152"/>
            <a:ext cx="146304" cy="146304"/>
          </a:xfrm>
          <a:prstGeom prst="ellipse">
            <a:avLst/>
          </a:prstGeom>
          <a:solidFill>
            <a:srgbClr val="E8B931"/>
          </a:solidFill>
          <a:ln w="12700">
            <a:solidFill>
              <a:srgbClr val="E8B93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4944" y="1216152"/>
            <a:ext cx="146304" cy="146304"/>
          </a:xfrm>
          <a:prstGeom prst="ellipse">
            <a:avLst/>
          </a:prstGeom>
          <a:solidFill>
            <a:srgbClr val="0F9D58"/>
          </a:solidFill>
          <a:ln w="12700">
            <a:solidFill>
              <a:srgbClr val="0F9D5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32688" y="1216152"/>
            <a:ext cx="146304" cy="146304"/>
          </a:xfrm>
          <a:prstGeom prst="ellipse">
            <a:avLst/>
          </a:prstGeom>
          <a:solidFill>
            <a:srgbClr val="E8863A"/>
          </a:solidFill>
          <a:ln w="12700">
            <a:solidFill>
              <a:srgbClr val="E8863A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C2E"/>
                </a:solidFill>
              </a:rPr>
              <a:t>目錄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u="sng" dirty="0">
                <a:solidFill>
                  <a:srgbClr val="4F46E5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01　這個工具在做什麼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3913632" y="932688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u="sng" dirty="0">
                <a:solidFill>
                  <a:srgbClr val="4F46E5"/>
                </a:solidFill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153343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3C4252"/>
                </a:solidFill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　　五個輸入，一個輸出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3913632" y="1153343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6B7180"/>
                </a:solidFill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318835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3C4252"/>
                </a:solidFill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　　三種介面怎麼選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3913632" y="1318835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6B7180"/>
                </a:solidFill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48432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u="sng" dirty="0">
                <a:solidFill>
                  <a:srgbClr val="4F46E5"/>
                </a:solidFill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02　安裝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3913632" y="1484326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u="sng" dirty="0">
                <a:solidFill>
                  <a:srgbClr val="4F46E5"/>
                </a:solidFill>
                <a:hlinkClick r:id="rId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6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704981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3C4252"/>
                </a:solidFill>
                <a:hlinkClick r:id="rId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　　兩種交付包怎麼選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3913632" y="1704981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6B7180"/>
                </a:solidFill>
                <a:hlinkClick r:id="rId1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7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870473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3C4252"/>
                </a:solidFill>
                <a:hlinkClick r:id="rId1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　　安裝步驟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3913632" y="1870473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6B7180"/>
                </a:solidFill>
                <a:hlinkClick r:id="rId1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8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203596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u="sng" dirty="0">
                <a:solidFill>
                  <a:srgbClr val="4F46E5"/>
                </a:solidFill>
                <a:hlinkClick r:id="rId1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03　S 案　瀏覽器介面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3913632" y="2035964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u="sng" dirty="0">
                <a:solidFill>
                  <a:srgbClr val="4F46E5"/>
                </a:solidFill>
                <a:hlinkClick r:id="rId1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9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2256619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3C4252"/>
                </a:solidFill>
                <a:hlinkClick r:id="rId1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　　步驟 1　檔案設定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3913632" y="2256619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6B7180"/>
                </a:solidFill>
                <a:hlinkClick r:id="rId1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10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2422111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3C4252"/>
                </a:solidFill>
                <a:hlinkClick r:id="rId1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　　檔案不在預設清單裡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3913632" y="2422111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6B7180"/>
                </a:solidFill>
                <a:hlinkClick r:id="rId1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11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2587602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3C4252"/>
                </a:solidFill>
                <a:hlinkClick r:id="rId1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　　步驟 2　比對結果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3913632" y="2587602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6B7180"/>
                </a:solidFill>
                <a:hlinkClick r:id="rId2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12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2753094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3C4252"/>
                </a:solidFill>
                <a:hlinkClick r:id="rId2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　　步驟 3　產出 E-BOM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3913632" y="2753094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6B7180"/>
                </a:solidFill>
                <a:hlinkClick r:id="rId2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13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2918585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3C4252"/>
                </a:solidFill>
                <a:hlinkClick r:id="rId2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　　右上角的選單（三個點）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3913632" y="2918585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6B7180"/>
                </a:solidFill>
                <a:hlinkClick r:id="rId2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14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3084076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3C4252"/>
                </a:solidFill>
                <a:hlinkClick r:id="rId2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　　S 案其他頁面與 W 案對照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3913632" y="3084076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6B7180"/>
                </a:solidFill>
                <a:hlinkClick r:id="rId2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15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324956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u="sng" dirty="0">
                <a:solidFill>
                  <a:srgbClr val="4F46E5"/>
                </a:solidFill>
                <a:hlinkClick r:id="rId2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04　W 案　原生視窗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3913632" y="3249568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u="sng" dirty="0">
                <a:solidFill>
                  <a:srgbClr val="4F46E5"/>
                </a:solidFill>
                <a:hlinkClick r:id="rId2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16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3470223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3C4252"/>
                </a:solidFill>
                <a:hlinkClick r:id="rId2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　　步驟 1　檔案設定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3913632" y="3470223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6B7180"/>
                </a:solidFill>
                <a:hlinkClick r:id="rId3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17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3635714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3C4252"/>
                </a:solidFill>
                <a:hlinkClick r:id="rId3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　　步驟 2　比對結果與人工修正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3913632" y="3635714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6B7180"/>
                </a:solidFill>
                <a:hlinkClick r:id="rId3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18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3801206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3C4252"/>
                </a:solidFill>
                <a:hlinkClick r:id="rId3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　　步驟 3　Knowledge 命中確認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3913632" y="3801206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6B7180"/>
                </a:solidFill>
                <a:hlinkClick r:id="rId3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19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3966697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3C4252"/>
                </a:solidFill>
                <a:hlinkClick r:id="rId3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　　步驟 4　表頭資訊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3913632" y="3966697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6B7180"/>
                </a:solidFill>
                <a:hlinkClick r:id="rId3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20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457200" y="4132189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3C4252"/>
                </a:solidFill>
                <a:hlinkClick r:id="rId3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　　步驟 5　產出 E-BOM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3913632" y="4132189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6B7180"/>
                </a:solidFill>
                <a:hlinkClick r:id="rId3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21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4663440" y="93268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u="sng" dirty="0">
                <a:solidFill>
                  <a:srgbClr val="4F46E5"/>
                </a:solidFill>
                <a:hlinkClick r:id="rId3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05　雙面板　TOP / BOT</a:t>
            </a:r>
            <a:endParaRPr lang="en-US" sz="1250" dirty="0"/>
          </a:p>
        </p:txBody>
      </p:sp>
      <p:sp>
        <p:nvSpPr>
          <p:cNvPr id="42" name="Text 40"/>
          <p:cNvSpPr txBox="1"/>
          <p:nvPr/>
        </p:nvSpPr>
        <p:spPr>
          <a:xfrm>
            <a:off x="8119872" y="932688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u="sng" dirty="0">
                <a:solidFill>
                  <a:srgbClr val="4F46E5"/>
                </a:solidFill>
                <a:hlinkClick r:id="rId4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22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4663440" y="1261872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3C4252"/>
                </a:solidFill>
                <a:hlinkClick r:id="rId4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　　Location 查不到 Top/Bot 時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8119872" y="1261872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6B7180"/>
                </a:solidFill>
                <a:hlinkClick r:id="rId4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23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4663440" y="1508760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3C4252"/>
                </a:solidFill>
                <a:hlinkClick r:id="rId4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　　雙面板的三個規則</a:t>
            </a:r>
            <a:endParaRPr lang="en-US" sz="1050" dirty="0"/>
          </a:p>
        </p:txBody>
      </p:sp>
      <p:sp>
        <p:nvSpPr>
          <p:cNvPr id="46" name="Text 44"/>
          <p:cNvSpPr txBox="1"/>
          <p:nvPr/>
        </p:nvSpPr>
        <p:spPr>
          <a:xfrm>
            <a:off x="8119872" y="1508760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6B7180"/>
                </a:solidFill>
                <a:hlinkClick r:id="rId4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24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4663440" y="175564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u="sng" dirty="0">
                <a:solidFill>
                  <a:srgbClr val="4F46E5"/>
                </a:solidFill>
                <a:hlinkClick r:id="rId4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06　電容降壓選料　R8</a:t>
            </a:r>
            <a:endParaRPr lang="en-US" sz="1250" dirty="0"/>
          </a:p>
        </p:txBody>
      </p:sp>
      <p:sp>
        <p:nvSpPr>
          <p:cNvPr id="48" name="Text 46"/>
          <p:cNvSpPr txBox="1"/>
          <p:nvPr/>
        </p:nvSpPr>
        <p:spPr>
          <a:xfrm>
            <a:off x="8119872" y="1755648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u="sng" dirty="0">
                <a:solidFill>
                  <a:srgbClr val="4F46E5"/>
                </a:solidFill>
                <a:hlinkClick r:id="rId4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25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4663440" y="2084832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3C4252"/>
                </a:solidFill>
                <a:hlinkClick r:id="rId4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　　耐壓低於原始設計的替代料</a:t>
            </a:r>
            <a:endParaRPr lang="en-US" sz="1050" dirty="0"/>
          </a:p>
        </p:txBody>
      </p:sp>
      <p:sp>
        <p:nvSpPr>
          <p:cNvPr id="50" name="Text 48"/>
          <p:cNvSpPr txBox="1"/>
          <p:nvPr/>
        </p:nvSpPr>
        <p:spPr>
          <a:xfrm>
            <a:off x="8119872" y="2084832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6B7180"/>
                </a:solidFill>
                <a:hlinkClick r:id="rId4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26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4663440" y="2331720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3C4252"/>
                </a:solidFill>
                <a:hlinkClick r:id="rId4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　　R8 怎麼判、怎麼確認</a:t>
            </a:r>
            <a:endParaRPr lang="en-US" sz="1050" dirty="0"/>
          </a:p>
        </p:txBody>
      </p:sp>
      <p:sp>
        <p:nvSpPr>
          <p:cNvPr id="52" name="Text 50"/>
          <p:cNvSpPr txBox="1"/>
          <p:nvPr/>
        </p:nvSpPr>
        <p:spPr>
          <a:xfrm>
            <a:off x="8119872" y="2331720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6B7180"/>
                </a:solidFill>
                <a:hlinkClick r:id="rId5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27</a:t>
            </a:r>
            <a:endParaRPr lang="en-US" sz="1000" dirty="0"/>
          </a:p>
        </p:txBody>
      </p:sp>
      <p:sp>
        <p:nvSpPr>
          <p:cNvPr id="53" name="Text 51"/>
          <p:cNvSpPr txBox="1"/>
          <p:nvPr/>
        </p:nvSpPr>
        <p:spPr>
          <a:xfrm>
            <a:off x="4663440" y="257860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u="sng" dirty="0">
                <a:solidFill>
                  <a:srgbClr val="4F46E5"/>
                </a:solidFill>
                <a:hlinkClick r:id="rId5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07　看懂產出的 Excel</a:t>
            </a:r>
            <a:endParaRPr lang="en-US" sz="1250" dirty="0"/>
          </a:p>
        </p:txBody>
      </p:sp>
      <p:sp>
        <p:nvSpPr>
          <p:cNvPr id="54" name="Text 52"/>
          <p:cNvSpPr txBox="1"/>
          <p:nvPr/>
        </p:nvSpPr>
        <p:spPr>
          <a:xfrm>
            <a:off x="8119872" y="2578608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u="sng" dirty="0">
                <a:solidFill>
                  <a:srgbClr val="4F46E5"/>
                </a:solidFill>
                <a:hlinkClick r:id="rId5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28</a:t>
            </a:r>
            <a:endParaRPr lang="en-US" sz="1100" dirty="0"/>
          </a:p>
        </p:txBody>
      </p:sp>
      <p:sp>
        <p:nvSpPr>
          <p:cNvPr id="55" name="Text 53"/>
          <p:cNvSpPr txBox="1"/>
          <p:nvPr/>
        </p:nvSpPr>
        <p:spPr>
          <a:xfrm>
            <a:off x="4663440" y="2907792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3C4252"/>
                </a:solidFill>
                <a:hlinkClick r:id="rId5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　　色底規則與替代料拆列</a:t>
            </a:r>
            <a:endParaRPr lang="en-US" sz="1050" dirty="0"/>
          </a:p>
        </p:txBody>
      </p:sp>
      <p:sp>
        <p:nvSpPr>
          <p:cNvPr id="56" name="Text 54"/>
          <p:cNvSpPr txBox="1"/>
          <p:nvPr/>
        </p:nvSpPr>
        <p:spPr>
          <a:xfrm>
            <a:off x="8119872" y="2907792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6B7180"/>
                </a:solidFill>
                <a:hlinkClick r:id="rId5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29</a:t>
            </a:r>
            <a:endParaRPr lang="en-US" sz="1000" dirty="0"/>
          </a:p>
        </p:txBody>
      </p:sp>
      <p:sp>
        <p:nvSpPr>
          <p:cNvPr id="57" name="Text 55"/>
          <p:cNvSpPr txBox="1"/>
          <p:nvPr/>
        </p:nvSpPr>
        <p:spPr>
          <a:xfrm>
            <a:off x="4663440" y="3154680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3C4252"/>
                </a:solidFill>
                <a:hlinkClick r:id="rId5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　　資料夾規則與自動偵測</a:t>
            </a:r>
            <a:endParaRPr lang="en-US" sz="1050" dirty="0"/>
          </a:p>
        </p:txBody>
      </p:sp>
      <p:sp>
        <p:nvSpPr>
          <p:cNvPr id="58" name="Text 56"/>
          <p:cNvSpPr txBox="1"/>
          <p:nvPr/>
        </p:nvSpPr>
        <p:spPr>
          <a:xfrm>
            <a:off x="8119872" y="3154680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6B7180"/>
                </a:solidFill>
                <a:hlinkClick r:id="rId5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30</a:t>
            </a:r>
            <a:endParaRPr lang="en-US" sz="1000" dirty="0"/>
          </a:p>
        </p:txBody>
      </p:sp>
      <p:sp>
        <p:nvSpPr>
          <p:cNvPr id="59" name="Text 57"/>
          <p:cNvSpPr txBox="1"/>
          <p:nvPr/>
        </p:nvSpPr>
        <p:spPr>
          <a:xfrm>
            <a:off x="4663440" y="340156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u="sng" dirty="0">
                <a:solidFill>
                  <a:srgbClr val="4F46E5"/>
                </a:solidFill>
                <a:hlinkClick r:id="rId5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08　疑難排解</a:t>
            </a:r>
            <a:endParaRPr lang="en-US" sz="1250" dirty="0"/>
          </a:p>
        </p:txBody>
      </p:sp>
      <p:sp>
        <p:nvSpPr>
          <p:cNvPr id="60" name="Text 58"/>
          <p:cNvSpPr txBox="1"/>
          <p:nvPr/>
        </p:nvSpPr>
        <p:spPr>
          <a:xfrm>
            <a:off x="8119872" y="3401568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u="sng" dirty="0">
                <a:solidFill>
                  <a:srgbClr val="4F46E5"/>
                </a:solidFill>
                <a:hlinkClick r:id="rId5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31</a:t>
            </a:r>
            <a:endParaRPr lang="en-US" sz="1100" dirty="0"/>
          </a:p>
        </p:txBody>
      </p:sp>
      <p:sp>
        <p:nvSpPr>
          <p:cNvPr id="61" name="Text 59"/>
          <p:cNvSpPr txBox="1"/>
          <p:nvPr/>
        </p:nvSpPr>
        <p:spPr>
          <a:xfrm>
            <a:off x="4663440" y="3730752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3C4252"/>
                </a:solidFill>
                <a:hlinkClick r:id="rId5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　　常見問題</a:t>
            </a:r>
            <a:endParaRPr lang="en-US" sz="1050" dirty="0"/>
          </a:p>
        </p:txBody>
      </p:sp>
      <p:sp>
        <p:nvSpPr>
          <p:cNvPr id="62" name="Text 60"/>
          <p:cNvSpPr txBox="1"/>
          <p:nvPr/>
        </p:nvSpPr>
        <p:spPr>
          <a:xfrm>
            <a:off x="8119872" y="3730752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6B7180"/>
                </a:solidFill>
                <a:hlinkClick r:id="rId6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32</a:t>
            </a:r>
            <a:endParaRPr lang="en-US" sz="1000" dirty="0"/>
          </a:p>
        </p:txBody>
      </p:sp>
      <p:sp>
        <p:nvSpPr>
          <p:cNvPr id="63" name="Text 61"/>
          <p:cNvSpPr txBox="1"/>
          <p:nvPr/>
        </p:nvSpPr>
        <p:spPr>
          <a:xfrm>
            <a:off x="4663440" y="3977640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3C4252"/>
                </a:solidFill>
                <a:hlinkClick r:id="rId6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　　v0.10 的重點</a:t>
            </a:r>
            <a:endParaRPr lang="en-US" sz="1050" dirty="0"/>
          </a:p>
        </p:txBody>
      </p:sp>
      <p:sp>
        <p:nvSpPr>
          <p:cNvPr id="64" name="Text 62"/>
          <p:cNvSpPr txBox="1"/>
          <p:nvPr/>
        </p:nvSpPr>
        <p:spPr>
          <a:xfrm>
            <a:off x="8119872" y="3977640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6B7180"/>
                </a:solidFill>
                <a:hlinkClick r:id="rId6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33</a:t>
            </a:r>
            <a:endParaRPr lang="en-US" sz="1000" dirty="0"/>
          </a:p>
        </p:txBody>
      </p:sp>
      <p:sp>
        <p:nvSpPr>
          <p:cNvPr id="65" name="Text 63"/>
          <p:cNvSpPr txBox="1"/>
          <p:nvPr/>
        </p:nvSpPr>
        <p:spPr>
          <a:xfrm>
            <a:off x="457200" y="43708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180"/>
                </a:solidFill>
              </a:rPr>
              <a:t>點選任一列可直接跳到該頁；每頁下方置中的「☰ 目錄」可以回到這裡。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89888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8D86F0"/>
                </a:solidFill>
              </a:rPr>
              <a:t>01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51460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這個工具在做什麼</a:t>
            </a:r>
            <a:endParaRPr lang="en-US" sz="3600" dirty="0"/>
          </a:p>
        </p:txBody>
      </p:sp>
      <p:sp>
        <p:nvSpPr>
          <p:cNvPr id="4" name="Text 2">
            <a:hlinkClick r:id="rId1" tooltip="" action="ppaction://hlinksldjump"/>
          </p:cNvPr>
          <p:cNvSpPr txBox="1"/>
          <p:nvPr/>
        </p:nvSpPr>
        <p:spPr>
          <a:xfrm>
            <a:off x="7406640" y="46634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C9C5F8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回目錄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C2E"/>
                </a:solidFill>
              </a:rPr>
              <a:t>五個輸入，一個輸出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274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u="sng" dirty="0">
                <a:solidFill>
                  <a:srgbClr val="4F46E5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目錄</a:t>
            </a:r>
            <a:endParaRPr lang="en-US" sz="900" dirty="0"/>
          </a:p>
        </p:txBody>
      </p:sp>
      <p:sp>
        <p:nvSpPr>
          <p:cNvPr id="4" name="in0"/>
          <p:cNvSpPr/>
          <p:nvPr/>
        </p:nvSpPr>
        <p:spPr>
          <a:xfrm>
            <a:off x="457200" y="1005840"/>
            <a:ext cx="1506931" cy="1143000"/>
          </a:xfrm>
          <a:prstGeom prst="roundRect">
            <a:avLst>
              <a:gd name="adj" fmla="val 4800"/>
            </a:avLst>
          </a:prstGeom>
          <a:solidFill>
            <a:srgbClr val="F7F8FA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5216" y="1161288"/>
            <a:ext cx="118872" cy="11887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58952" y="1097280"/>
            <a:ext cx="109545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C2E"/>
                </a:solidFill>
              </a:rPr>
              <a:t>Text BOM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85216" y="1417320"/>
            <a:ext cx="125089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180"/>
                </a:solidFill>
              </a:rPr>
              <a:t>Altium 匯出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180"/>
                </a:solidFill>
              </a:rPr>
              <a:t>*.txt 或 *.BOM</a:t>
            </a:r>
            <a:endParaRPr lang="en-US" sz="1000" dirty="0"/>
          </a:p>
        </p:txBody>
      </p:sp>
      <p:sp>
        <p:nvSpPr>
          <p:cNvPr id="8" name="in1"/>
          <p:cNvSpPr/>
          <p:nvPr/>
        </p:nvSpPr>
        <p:spPr>
          <a:xfrm>
            <a:off x="2137867" y="1005840"/>
            <a:ext cx="1506931" cy="1143000"/>
          </a:xfrm>
          <a:prstGeom prst="roundRect">
            <a:avLst>
              <a:gd name="adj" fmla="val 4800"/>
            </a:avLst>
          </a:prstGeom>
          <a:solidFill>
            <a:srgbClr val="F7F8FA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65883" y="1161288"/>
            <a:ext cx="118872" cy="11887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439619" y="1097280"/>
            <a:ext cx="109545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C2E"/>
                </a:solidFill>
              </a:rPr>
              <a:t>零件資料庫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2265883" y="1417320"/>
            <a:ext cx="125089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180"/>
                </a:solidFill>
              </a:rPr>
              <a:t>P/N + Description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180"/>
                </a:solidFill>
              </a:rPr>
              <a:t>*.xlsx</a:t>
            </a:r>
            <a:endParaRPr lang="en-US" sz="1000" dirty="0"/>
          </a:p>
        </p:txBody>
      </p:sp>
      <p:sp>
        <p:nvSpPr>
          <p:cNvPr id="12" name="in2"/>
          <p:cNvSpPr/>
          <p:nvPr/>
        </p:nvSpPr>
        <p:spPr>
          <a:xfrm>
            <a:off x="3818534" y="1005840"/>
            <a:ext cx="1506931" cy="1143000"/>
          </a:xfrm>
          <a:prstGeom prst="roundRect">
            <a:avLst>
              <a:gd name="adj" fmla="val 4800"/>
            </a:avLst>
          </a:prstGeom>
          <a:solidFill>
            <a:srgbClr val="F7F8FA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946550" y="1161288"/>
            <a:ext cx="118872" cy="118872"/>
          </a:xfrm>
          <a:prstGeom prst="ellipse">
            <a:avLst/>
          </a:prstGeom>
          <a:solidFill>
            <a:srgbClr val="E8863A"/>
          </a:solidFill>
          <a:ln w="12700">
            <a:solidFill>
              <a:srgbClr val="E8863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20286" y="1097280"/>
            <a:ext cx="109545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C2E"/>
                </a:solidFill>
              </a:rPr>
              <a:t>Knowledge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946550" y="1417320"/>
            <a:ext cx="125089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180"/>
                </a:solidFill>
              </a:rPr>
              <a:t>品名 / 包裝 / 注意事項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180"/>
                </a:solidFill>
              </a:rPr>
              <a:t>*.xlsx</a:t>
            </a:r>
            <a:endParaRPr lang="en-US" sz="1000" dirty="0"/>
          </a:p>
        </p:txBody>
      </p:sp>
      <p:sp>
        <p:nvSpPr>
          <p:cNvPr id="16" name="in3"/>
          <p:cNvSpPr/>
          <p:nvPr/>
        </p:nvSpPr>
        <p:spPr>
          <a:xfrm>
            <a:off x="5499202" y="1005840"/>
            <a:ext cx="1506931" cy="1143000"/>
          </a:xfrm>
          <a:prstGeom prst="roundRect">
            <a:avLst>
              <a:gd name="adj" fmla="val 4800"/>
            </a:avLst>
          </a:prstGeom>
          <a:solidFill>
            <a:srgbClr val="F7F8FA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27218" y="1161288"/>
            <a:ext cx="118872" cy="118872"/>
          </a:xfrm>
          <a:prstGeom prst="ellipse">
            <a:avLst/>
          </a:prstGeom>
          <a:solidFill>
            <a:srgbClr val="6B7180"/>
          </a:solidFill>
          <a:ln w="12700">
            <a:solidFill>
              <a:srgbClr val="6B718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800954" y="1097280"/>
            <a:ext cx="109545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C2E"/>
                </a:solidFill>
              </a:rPr>
              <a:t>PCB 圖片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627218" y="1417320"/>
            <a:ext cx="125089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180"/>
                </a:solidFill>
              </a:rPr>
              <a:t>TOP / BOT 各一張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180"/>
                </a:solidFill>
              </a:rPr>
              <a:t>嵌入 rows 9-35</a:t>
            </a:r>
            <a:endParaRPr lang="en-US" sz="1000" dirty="0"/>
          </a:p>
        </p:txBody>
      </p:sp>
      <p:sp>
        <p:nvSpPr>
          <p:cNvPr id="20" name="in4"/>
          <p:cNvSpPr/>
          <p:nvPr/>
        </p:nvSpPr>
        <p:spPr>
          <a:xfrm>
            <a:off x="7179869" y="1005840"/>
            <a:ext cx="1506931" cy="1143000"/>
          </a:xfrm>
          <a:prstGeom prst="roundRect">
            <a:avLst>
              <a:gd name="adj" fmla="val 4800"/>
            </a:avLst>
          </a:prstGeom>
          <a:solidFill>
            <a:srgbClr val="F7F8FA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07885" y="1161288"/>
            <a:ext cx="118872" cy="118872"/>
          </a:xfrm>
          <a:prstGeom prst="ellipse">
            <a:avLst/>
          </a:prstGeom>
          <a:solidFill>
            <a:srgbClr val="6B7180"/>
          </a:solidFill>
          <a:ln w="12700">
            <a:solidFill>
              <a:srgbClr val="6B718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481621" y="1097280"/>
            <a:ext cx="109545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C2E"/>
                </a:solidFill>
              </a:rPr>
              <a:t>Location 對照表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7307885" y="1417320"/>
            <a:ext cx="125089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180"/>
                </a:solidFill>
              </a:rPr>
              <a:t>選填，給了就是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180"/>
                </a:solidFill>
              </a:rPr>
              <a:t>雙面板．*.xlsx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 rot="10800000">
            <a:off x="4370832" y="2331720"/>
            <a:ext cx="402336" cy="274320"/>
          </a:xfrm>
          <a:prstGeom prst="triangle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out"/>
          <p:cNvSpPr/>
          <p:nvPr/>
        </p:nvSpPr>
        <p:spPr>
          <a:xfrm>
            <a:off x="457200" y="2724912"/>
            <a:ext cx="8229600" cy="841248"/>
          </a:xfrm>
          <a:prstGeom prst="roundRect">
            <a:avLst>
              <a:gd name="adj" fmla="val 6522"/>
            </a:avLst>
          </a:prstGeom>
          <a:solidFill>
            <a:srgbClr val="EEF0FF"/>
          </a:solidFill>
          <a:ln w="12700">
            <a:solidFill>
              <a:srgbClr val="C9CDF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58368" y="28346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F46E5"/>
                </a:solidFill>
              </a:rPr>
              <a:t>ADATA E-BOM 格式 Excel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658368" y="31729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4252"/>
                </a:solidFill>
              </a:rPr>
              <a:t>表頭、PCB 圖、BOM 明細、Total、表尾一次做好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37673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7180"/>
                </a:solidFill>
              </a:rPr>
              <a:t>三種介面（CLI / S 案 / W 案）共用同一份核心邏輯，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7180"/>
                </a:solidFill>
              </a:rPr>
              <a:t>同一份輸入產出的 Excel 完全相同。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C2E"/>
                </a:solidFill>
              </a:rPr>
              <a:t>三種介面怎麼選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274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u="sng" dirty="0">
                <a:solidFill>
                  <a:srgbClr val="4F46E5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目錄</a:t>
            </a:r>
            <a:endParaRPr lang="en-US" sz="900" dirty="0"/>
          </a:p>
        </p:txBody>
      </p:sp>
      <p:sp>
        <p:nvSpPr>
          <p:cNvPr id="4" name="card0"/>
          <p:cNvSpPr/>
          <p:nvPr/>
        </p:nvSpPr>
        <p:spPr>
          <a:xfrm>
            <a:off x="457200" y="987552"/>
            <a:ext cx="2679192" cy="3200400"/>
          </a:xfrm>
          <a:prstGeom prst="roundRect">
            <a:avLst>
              <a:gd name="adj" fmla="val 2048"/>
            </a:avLst>
          </a:prstGeom>
          <a:solidFill>
            <a:srgbClr val="F7F8FA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87552"/>
            <a:ext cx="2679192" cy="713232"/>
          </a:xfrm>
          <a:prstGeom prst="roundRect">
            <a:avLst>
              <a:gd name="adj" fmla="val 7692"/>
            </a:avLst>
          </a:prstGeom>
          <a:solidFill>
            <a:srgbClr val="6B71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03504" y="1078992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run_CLI.bat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03504" y="1371600"/>
            <a:ext cx="2386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7F5"/>
                </a:solidFill>
              </a:rPr>
              <a:t>命令列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1856232"/>
            <a:ext cx="235000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C4252"/>
                </a:solidFill>
              </a:rPr>
              <a:t>不需要 streamlit / pywebview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C4252"/>
                </a:solidFill>
              </a:rPr>
              <a:t>最快、最穩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C4252"/>
                </a:solidFill>
              </a:rPr>
              <a:t>不能人工修正，直接出檔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C4252"/>
                </a:solidFill>
              </a:rPr>
              <a:t>第一次安裝完建議先跑這支確認環境</a:t>
            </a:r>
            <a:endParaRPr lang="en-US" sz="1100" dirty="0"/>
          </a:p>
        </p:txBody>
      </p:sp>
      <p:sp>
        <p:nvSpPr>
          <p:cNvPr id="9" name="card1"/>
          <p:cNvSpPr/>
          <p:nvPr/>
        </p:nvSpPr>
        <p:spPr>
          <a:xfrm>
            <a:off x="3319272" y="987552"/>
            <a:ext cx="2679192" cy="3200400"/>
          </a:xfrm>
          <a:prstGeom prst="roundRect">
            <a:avLst>
              <a:gd name="adj" fmla="val 2048"/>
            </a:avLst>
          </a:prstGeom>
          <a:solidFill>
            <a:srgbClr val="F7F8FA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19272" y="987552"/>
            <a:ext cx="2679192" cy="713232"/>
          </a:xfrm>
          <a:prstGeom prst="roundRect">
            <a:avLst>
              <a:gd name="adj" fmla="val 7692"/>
            </a:avLst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65576" y="1078992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run_S_streamlit.bat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465576" y="1371600"/>
            <a:ext cx="2386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7F5"/>
                </a:solidFill>
              </a:rPr>
              <a:t>S 案．瀏覽器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3483864" y="1856232"/>
            <a:ext cx="235000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C4252"/>
                </a:solidFill>
              </a:rPr>
              <a:t>在瀏覽器操作，localhost:8601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C4252"/>
                </a:solidFill>
              </a:rPr>
              <a:t>可編輯表格後再產出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C4252"/>
                </a:solidFill>
              </a:rPr>
              <a:t>色底需切到「色底檢視」頁籤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C4252"/>
                </a:solidFill>
              </a:rPr>
              <a:t>使用期間不能關掉黑色主控台</a:t>
            </a:r>
            <a:endParaRPr lang="en-US" sz="1100" dirty="0"/>
          </a:p>
        </p:txBody>
      </p:sp>
      <p:sp>
        <p:nvSpPr>
          <p:cNvPr id="14" name="card2"/>
          <p:cNvSpPr/>
          <p:nvPr/>
        </p:nvSpPr>
        <p:spPr>
          <a:xfrm>
            <a:off x="6181344" y="987552"/>
            <a:ext cx="2679192" cy="3200400"/>
          </a:xfrm>
          <a:prstGeom prst="roundRect">
            <a:avLst>
              <a:gd name="adj" fmla="val 2048"/>
            </a:avLst>
          </a:prstGeom>
          <a:solidFill>
            <a:srgbClr val="F7F8FA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81344" y="987552"/>
            <a:ext cx="2679192" cy="713232"/>
          </a:xfrm>
          <a:prstGeom prst="roundRect">
            <a:avLst>
              <a:gd name="adj" fmla="val 7692"/>
            </a:avLst>
          </a:prstGeom>
          <a:solidFill>
            <a:srgbClr val="2F8F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27648" y="1078992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run_W_webview.bat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327648" y="1371600"/>
            <a:ext cx="2386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7F5"/>
                </a:solidFill>
              </a:rPr>
              <a:t>W 案．原生視窗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345936" y="1856232"/>
            <a:ext cx="235000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C4252"/>
                </a:solidFill>
              </a:rPr>
              <a:t>雙擊即開，不需要瀏覽器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C4252"/>
                </a:solidFill>
              </a:rPr>
              <a:t>表格佔滿整列，滑鼠氣泡看完整內容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C4252"/>
                </a:solidFill>
              </a:rPr>
              <a:t>色底與編輯可以並存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C4252"/>
                </a:solidFill>
              </a:rPr>
              <a:t>篩選鈕＋搜尋框，快速找到要確認的列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89888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8D86F0"/>
                </a:solidFill>
              </a:rPr>
              <a:t>02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51460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安裝</a:t>
            </a:r>
            <a:endParaRPr lang="en-US" sz="3600" dirty="0"/>
          </a:p>
        </p:txBody>
      </p:sp>
      <p:sp>
        <p:nvSpPr>
          <p:cNvPr id="4" name="Text 2">
            <a:hlinkClick r:id="rId1" tooltip="" action="ppaction://hlinksldjump"/>
          </p:cNvPr>
          <p:cNvSpPr txBox="1"/>
          <p:nvPr/>
        </p:nvSpPr>
        <p:spPr>
          <a:xfrm>
            <a:off x="7406640" y="46634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C9C5F8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回目錄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C2E"/>
                </a:solidFill>
              </a:rPr>
              <a:t>兩種交付包怎麼選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274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u="sng" dirty="0">
                <a:solidFill>
                  <a:srgbClr val="4F46E5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目錄</a:t>
            </a:r>
            <a:endParaRPr lang="en-US" sz="900" dirty="0"/>
          </a:p>
        </p:txBody>
      </p:sp>
      <p:sp>
        <p:nvSpPr>
          <p:cNvPr id="4" name="cmp0"/>
          <p:cNvSpPr/>
          <p:nvPr/>
        </p:nvSpPr>
        <p:spPr>
          <a:xfrm>
            <a:off x="457200" y="987552"/>
            <a:ext cx="4023360" cy="2606040"/>
          </a:xfrm>
          <a:prstGeom prst="roundRect">
            <a:avLst>
              <a:gd name="adj" fmla="val 2105"/>
            </a:avLst>
          </a:prstGeom>
          <a:solidFill>
            <a:srgbClr val="F7F8FA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87552"/>
            <a:ext cx="4023360" cy="731520"/>
          </a:xfrm>
          <a:prstGeom prst="roundRect">
            <a:avLst>
              <a:gd name="adj" fmla="val 7500"/>
            </a:avLst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08813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完整離線安裝版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39903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7F5"/>
                </a:solidFill>
              </a:rPr>
              <a:t>約 112 MB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1883664"/>
            <a:ext cx="362102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C4252"/>
                </a:solidFill>
              </a:rPr>
              <a:t>自帶 Python 安裝檔與全部套件</a:t>
            </a:r>
            <a:endParaRPr lang="en-US" sz="1150" dirty="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C4252"/>
                </a:solidFill>
              </a:rPr>
              <a:t>安裝過程完全不需要網路</a:t>
            </a:r>
            <a:endParaRPr lang="en-US" sz="1150" dirty="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C4252"/>
                </a:solidFill>
              </a:rPr>
              <a:t>產線機器、連不上外網的環境用這包</a:t>
            </a:r>
            <a:endParaRPr lang="en-US" sz="1150" dirty="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C4252"/>
                </a:solidFill>
              </a:rPr>
              <a:t>多了 python\ 與 wheels\ 兩個資料夾</a:t>
            </a:r>
            <a:endParaRPr lang="en-US" sz="1150" dirty="0"/>
          </a:p>
        </p:txBody>
      </p:sp>
      <p:sp>
        <p:nvSpPr>
          <p:cNvPr id="9" name="cmp1"/>
          <p:cNvSpPr/>
          <p:nvPr/>
        </p:nvSpPr>
        <p:spPr>
          <a:xfrm>
            <a:off x="4663440" y="987552"/>
            <a:ext cx="4023360" cy="2606040"/>
          </a:xfrm>
          <a:prstGeom prst="roundRect">
            <a:avLst>
              <a:gd name="adj" fmla="val 2105"/>
            </a:avLst>
          </a:prstGeom>
          <a:solidFill>
            <a:srgbClr val="F7F8FA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987552"/>
            <a:ext cx="4023360" cy="731520"/>
          </a:xfrm>
          <a:prstGeom prst="roundRect">
            <a:avLst>
              <a:gd name="adj" fmla="val 7500"/>
            </a:avLst>
          </a:prstGeom>
          <a:solidFill>
            <a:srgbClr val="6B71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46320" y="108813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精簡版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139903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7F5"/>
                </a:solidFill>
              </a:rPr>
              <a:t>約 0.2 MB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864608" y="1883664"/>
            <a:ext cx="362102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C4252"/>
                </a:solidFill>
              </a:rPr>
              <a:t>安裝時要連得上 python.org 與 PyPI</a:t>
            </a:r>
            <a:endParaRPr lang="en-US" sz="1150" dirty="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C4252"/>
                </a:solidFill>
              </a:rPr>
              <a:t>檔案小，好傳</a:t>
            </a:r>
            <a:endParaRPr lang="en-US" sz="1150" dirty="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C4252"/>
                </a:solidFill>
              </a:rPr>
              <a:t>辦公室機器用這包就夠</a:t>
            </a:r>
            <a:endParaRPr lang="en-US" sz="1150" dirty="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C4252"/>
                </a:solidFill>
              </a:rPr>
              <a:t>裝不起來時再改用完整離線版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8221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180"/>
                </a:solidFill>
              </a:rPr>
              <a:t>兩包的程式本體與範例資料完全相同，差別只在「套件怎麼來」。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C2E"/>
                </a:solidFill>
              </a:rPr>
              <a:t>安裝步驟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274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u="sng" dirty="0">
                <a:solidFill>
                  <a:srgbClr val="4F46E5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目錄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384048" cy="38404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024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24128" y="98755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C2E"/>
                </a:solidFill>
              </a:rPr>
              <a:t>解壓縮到任意資料夾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24128" y="1280160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C4252"/>
                </a:solidFill>
              </a:rPr>
              <a:t>路徑不限。程式一律以「自己所在的資料夾」為工作目錄，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C4252"/>
                </a:solidFill>
              </a:rPr>
              <a:t>不必固定放哪裡。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1956816"/>
            <a:ext cx="384048" cy="38404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956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024128" y="192024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C2E"/>
                </a:solidFill>
              </a:rPr>
              <a:t>執行「安裝.bat」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24128" y="2212848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C4252"/>
                </a:solidFill>
              </a:rPr>
              <a:t>已經有 Python 會自動跳過，直接裝套件。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2889504"/>
            <a:ext cx="384048" cy="38404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889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024128" y="285292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C2E"/>
                </a:solidFill>
              </a:rPr>
              <a:t>看到「請重開視窗」就再跑一次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024128" y="3145536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C4252"/>
                </a:solidFill>
              </a:rPr>
              <a:t>Python 剛裝好時 PATH 還沒生效，關掉視窗再執行一次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C4252"/>
                </a:solidFill>
              </a:rPr>
              <a:t>「安裝.bat」把套件裝完。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822192"/>
            <a:ext cx="384048" cy="38404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822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024128" y="3785616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C2E"/>
                </a:solidFill>
              </a:rPr>
              <a:t>確認三行都是 [OK]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024128" y="4078224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C4252"/>
                </a:solidFill>
              </a:rPr>
              <a:t>[OK] 核心 / [OK] S 案 / [OK] W 案。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C4252"/>
                </a:solidFill>
              </a:rPr>
              <a:t>出現 [--] 表示該介面不能用，其餘仍可運作。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89888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8D86F0"/>
                </a:solidFill>
              </a:rPr>
              <a:t>03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51460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S 案　瀏覽器介面</a:t>
            </a:r>
            <a:endParaRPr lang="en-US" sz="3600" dirty="0"/>
          </a:p>
        </p:txBody>
      </p:sp>
      <p:sp>
        <p:nvSpPr>
          <p:cNvPr id="4" name="Text 2">
            <a:hlinkClick r:id="rId1" tooltip="" action="ppaction://hlinksldjump"/>
          </p:cNvPr>
          <p:cNvSpPr txBox="1"/>
          <p:nvPr/>
        </p:nvSpPr>
        <p:spPr>
          <a:xfrm>
            <a:off x="7406640" y="46634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C9C5F8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回目錄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C2E"/>
                </a:solidFill>
              </a:rPr>
              <a:t>步驟 1　檔案設定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274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u="sng" dirty="0">
                <a:solidFill>
                  <a:srgbClr val="4F46E5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目錄</a:t>
            </a:r>
            <a:endParaRPr lang="en-US" sz="900" dirty="0"/>
          </a:p>
        </p:txBody>
      </p:sp>
      <p:pic>
        <p:nvPicPr>
          <p:cNvPr id="4" name="shot" descr="F:\AI_BOM\docs\sop\shots\S_01_fil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60120"/>
            <a:ext cx="5440680" cy="355911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960120"/>
            <a:ext cx="5440680" cy="355911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545112" y="1729423"/>
            <a:ext cx="169164" cy="169164"/>
          </a:xfrm>
          <a:prstGeom prst="ellipse">
            <a:avLst/>
          </a:prstGeom>
          <a:solidFill>
            <a:srgbClr val="D92D2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2460530" y="1644840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2148396" y="2889345"/>
            <a:ext cx="169164" cy="169164"/>
          </a:xfrm>
          <a:prstGeom prst="ellipse">
            <a:avLst/>
          </a:prstGeom>
          <a:solidFill>
            <a:srgbClr val="D92D2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063814" y="2804763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2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474561" y="1680305"/>
            <a:ext cx="169164" cy="169164"/>
          </a:xfrm>
          <a:prstGeom prst="ellipse">
            <a:avLst/>
          </a:prstGeom>
          <a:solidFill>
            <a:srgbClr val="D92D2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389979" y="1595723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6172200" y="960120"/>
            <a:ext cx="2514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D92D20"/>
                </a:solidFill>
              </a:rPr>
              <a:t>① </a:t>
            </a:r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3C4252"/>
                </a:solidFill>
              </a:rPr>
              <a:t>上面四個檔案由程式自動偵測，候選依</a:t>
            </a:r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100" b="1" dirty="0">
                <a:solidFill>
                  <a:srgbClr val="3C4252"/>
                </a:solidFill>
              </a:rPr>
              <a:t>最後修改時間</a:t>
            </a:r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3C4252"/>
                </a:solidFill>
              </a:rPr>
              <a:t>排序，最新的排第一個</a:t>
            </a:r>
            <a:endParaRPr lang="en-US" sz="1100" dirty="0"/>
          </a:p>
          <a:p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D92D20"/>
                </a:solidFill>
              </a:rPr>
              <a:t>② </a:t>
            </a:r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3C4252"/>
                </a:solidFill>
              </a:rPr>
              <a:t>「雙面板（選填）」區塊：Location TOP/BOT 對照表、PCB 圖片（BOT 面）</a:t>
            </a:r>
            <a:endParaRPr lang="en-US" sz="1100" dirty="0"/>
          </a:p>
          <a:p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D92D20"/>
                </a:solidFill>
              </a:rPr>
              <a:t>③ </a:t>
            </a:r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3C4252"/>
                </a:solidFill>
              </a:rPr>
              <a:t>不對就按右邊的「瀏覽…」，或選「— 手動輸入路徑 —」自己貼路徑</a:t>
            </a:r>
            <a:endParaRPr lang="en-US" sz="1100" dirty="0"/>
          </a:p>
        </p:txBody>
      </p:sp>
      <p:sp>
        <p:nvSpPr>
          <p:cNvPr id="13" name="warn"/>
          <p:cNvSpPr/>
          <p:nvPr/>
        </p:nvSpPr>
        <p:spPr>
          <a:xfrm>
            <a:off x="6172200" y="3383280"/>
            <a:ext cx="2514600" cy="1298448"/>
          </a:xfrm>
          <a:prstGeom prst="roundRect">
            <a:avLst>
              <a:gd name="adj" fmla="val 4225"/>
            </a:avLst>
          </a:prstGeom>
          <a:solidFill>
            <a:srgbClr val="FFF6EC"/>
          </a:solidFill>
          <a:ln w="12700">
            <a:solidFill>
              <a:srgbClr val="F0D3A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300216" y="3529584"/>
            <a:ext cx="118872" cy="118872"/>
          </a:xfrm>
          <a:prstGeom prst="ellipse">
            <a:avLst/>
          </a:prstGeom>
          <a:solidFill>
            <a:srgbClr val="E8863A"/>
          </a:solidFill>
          <a:ln w="12700">
            <a:solidFill>
              <a:srgbClr val="E8863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73952" y="3465576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4413"/>
                </a:solidFill>
              </a:rPr>
              <a:t>注意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6300216" y="3730752"/>
            <a:ext cx="225856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4413"/>
                </a:solidFill>
              </a:rPr>
              <a:t>綠色「雙面板模式」／藍色「單面板模式」會告訴你這次會怎麼輸出；輸出路徑預設在 output\，副檔名強制 .xlsx。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4413"/>
                </a:solidFill>
              </a:rPr>
              <a:t>確認 Text BOM 是你這次要跑的那一支 —— 選錯檔案是最常見的失誤。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C2E"/>
                </a:solidFill>
              </a:rPr>
              <a:t>檔案不在預設清單裡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274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u="sng" dirty="0">
                <a:solidFill>
                  <a:srgbClr val="4F46E5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目錄</a:t>
            </a:r>
            <a:endParaRPr lang="en-US" sz="900" dirty="0"/>
          </a:p>
        </p:txBody>
      </p:sp>
      <p:pic>
        <p:nvPicPr>
          <p:cNvPr id="4" name="shot" descr="F:\AI_BOM\docs\sop\shots\S_02_brows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60120"/>
            <a:ext cx="5440680" cy="355911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960120"/>
            <a:ext cx="5440680" cy="355911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133283" y="1937226"/>
            <a:ext cx="169164" cy="169164"/>
          </a:xfrm>
          <a:prstGeom prst="ellipse">
            <a:avLst/>
          </a:prstGeom>
          <a:solidFill>
            <a:srgbClr val="D92D2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2048701" y="1852644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3157188" y="2677763"/>
            <a:ext cx="169164" cy="169164"/>
          </a:xfrm>
          <a:prstGeom prst="ellipse">
            <a:avLst/>
          </a:prstGeom>
          <a:solidFill>
            <a:srgbClr val="D92D2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072606" y="2593181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2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140839" y="2179034"/>
            <a:ext cx="169164" cy="169164"/>
          </a:xfrm>
          <a:prstGeom prst="ellipse">
            <a:avLst/>
          </a:prstGeom>
          <a:solidFill>
            <a:srgbClr val="D92D2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056257" y="2094452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552668" y="1729423"/>
            <a:ext cx="169164" cy="169164"/>
          </a:xfrm>
          <a:prstGeom prst="ellipse">
            <a:avLst/>
          </a:prstGeom>
          <a:solidFill>
            <a:srgbClr val="D92D2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468086" y="1644840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4</a:t>
            </a:r>
            <a:endParaRPr lang="en-US" sz="850" dirty="0"/>
          </a:p>
        </p:txBody>
      </p:sp>
      <p:sp>
        <p:nvSpPr>
          <p:cNvPr id="14" name="Text 11"/>
          <p:cNvSpPr txBox="1"/>
          <p:nvPr/>
        </p:nvSpPr>
        <p:spPr>
          <a:xfrm>
            <a:off x="6172200" y="960120"/>
            <a:ext cx="2514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D92D20"/>
                </a:solidFill>
              </a:rPr>
              <a:t>① </a:t>
            </a:r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3C4252"/>
                </a:solidFill>
              </a:rPr>
              <a:t>展開「📂 目錄瀏覽器」就能自己翻資料夾</a:t>
            </a:r>
            <a:endParaRPr lang="en-US" sz="1100" dirty="0"/>
          </a:p>
          <a:p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D92D20"/>
                </a:solidFill>
              </a:rPr>
              <a:t>② </a:t>
            </a:r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3C4252"/>
                </a:solidFill>
              </a:rPr>
              <a:t>左邊是子資料夾，右邊是符合副檔名的檔案，後面附最後修改日期</a:t>
            </a:r>
            <a:endParaRPr lang="en-US" sz="1100" dirty="0"/>
          </a:p>
          <a:p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D92D20"/>
                </a:solidFill>
              </a:rPr>
              <a:t>③ </a:t>
            </a:r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3C4252"/>
                </a:solidFill>
              </a:rPr>
              <a:t>「⬆ 上一層」往上、「🏠 程式目錄」跳回程式所在位置</a:t>
            </a:r>
            <a:endParaRPr lang="en-US" sz="1100" dirty="0"/>
          </a:p>
          <a:p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D92D20"/>
                </a:solidFill>
              </a:rPr>
              <a:t>④ </a:t>
            </a:r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3C4252"/>
                </a:solidFill>
              </a:rPr>
              <a:t>點檔名即選取，上方的下拉選單會跟著換</a:t>
            </a:r>
            <a:endParaRPr lang="en-US" sz="1100" dirty="0"/>
          </a:p>
        </p:txBody>
      </p:sp>
      <p:sp>
        <p:nvSpPr>
          <p:cNvPr id="15" name="warn"/>
          <p:cNvSpPr/>
          <p:nvPr/>
        </p:nvSpPr>
        <p:spPr>
          <a:xfrm>
            <a:off x="6172200" y="3383280"/>
            <a:ext cx="2514600" cy="1298448"/>
          </a:xfrm>
          <a:prstGeom prst="roundRect">
            <a:avLst>
              <a:gd name="adj" fmla="val 4225"/>
            </a:avLst>
          </a:prstGeom>
          <a:solidFill>
            <a:srgbClr val="FFF6EC"/>
          </a:solidFill>
          <a:ln w="12700">
            <a:solidFill>
              <a:srgbClr val="F0D3A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300216" y="3529584"/>
            <a:ext cx="118872" cy="118872"/>
          </a:xfrm>
          <a:prstGeom prst="ellipse">
            <a:avLst/>
          </a:prstGeom>
          <a:solidFill>
            <a:srgbClr val="E8863A"/>
          </a:solidFill>
          <a:ln w="12700">
            <a:solidFill>
              <a:srgbClr val="E8863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73952" y="3465576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4413"/>
                </a:solidFill>
              </a:rPr>
              <a:t>注意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6300216" y="3730752"/>
            <a:ext cx="225856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4413"/>
                </a:solidFill>
              </a:rPr>
              <a:t>「瀏覽…」開的是 Windows 原生對話框，偶爾會躲在瀏覽器視窗後面。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4413"/>
                </a:solidFill>
              </a:rPr>
              <a:t>找不到就改用目錄瀏覽器，功能一樣。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C2E"/>
                </a:solidFill>
              </a:rPr>
              <a:t>步驟 2　比對結果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274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u="sng" dirty="0">
                <a:solidFill>
                  <a:srgbClr val="4F46E5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目錄</a:t>
            </a:r>
            <a:endParaRPr lang="en-US" sz="900" dirty="0"/>
          </a:p>
        </p:txBody>
      </p:sp>
      <p:pic>
        <p:nvPicPr>
          <p:cNvPr id="4" name="shot" descr="F:\AI_BOM\docs\sop\shots\S_03_row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60120"/>
            <a:ext cx="5440680" cy="355911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960120"/>
            <a:ext cx="5440680" cy="355911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526221" y="1714310"/>
            <a:ext cx="169164" cy="169164"/>
          </a:xfrm>
          <a:prstGeom prst="ellipse">
            <a:avLst/>
          </a:prstGeom>
          <a:solidFill>
            <a:srgbClr val="D92D2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2441639" y="1629728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2035048" y="2077022"/>
            <a:ext cx="169164" cy="169164"/>
          </a:xfrm>
          <a:prstGeom prst="ellipse">
            <a:avLst/>
          </a:prstGeom>
          <a:solidFill>
            <a:srgbClr val="D92D2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950466" y="1992440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2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4169759" y="2866676"/>
            <a:ext cx="169164" cy="169164"/>
          </a:xfrm>
          <a:prstGeom prst="ellipse">
            <a:avLst/>
          </a:prstGeom>
          <a:solidFill>
            <a:srgbClr val="D92D2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085177" y="2782094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1880140" y="2602198"/>
            <a:ext cx="169164" cy="169164"/>
          </a:xfrm>
          <a:prstGeom prst="ellipse">
            <a:avLst/>
          </a:prstGeom>
          <a:solidFill>
            <a:srgbClr val="D92D2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795558" y="2517616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4</a:t>
            </a:r>
            <a:endParaRPr lang="en-US" sz="850" dirty="0"/>
          </a:p>
        </p:txBody>
      </p:sp>
      <p:sp>
        <p:nvSpPr>
          <p:cNvPr id="14" name="Text 11"/>
          <p:cNvSpPr txBox="1"/>
          <p:nvPr/>
        </p:nvSpPr>
        <p:spPr>
          <a:xfrm>
            <a:off x="6172200" y="960120"/>
            <a:ext cx="2514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D92D20"/>
                </a:solidFill>
              </a:rPr>
              <a:t>① </a:t>
            </a:r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3C4252"/>
                </a:solidFill>
              </a:rPr>
              <a:t>上方六個數字：總項次 / 輸出列數 / 命中 P/N / 未命中 / Knowledge / Total Qty</a:t>
            </a:r>
            <a:endParaRPr lang="en-US" sz="1100" dirty="0"/>
          </a:p>
          <a:p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D92D20"/>
                </a:solidFill>
              </a:rPr>
              <a:t>② </a:t>
            </a:r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3C4252"/>
                </a:solidFill>
              </a:rPr>
              <a:t>「</a:t>
            </a:r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100" b="1" dirty="0">
                <a:solidFill>
                  <a:srgbClr val="3C4252"/>
                </a:solidFill>
              </a:rPr>
              <a:t>⤢ 放大表格</a:t>
            </a:r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3C4252"/>
                </a:solidFill>
              </a:rPr>
              <a:t>」一次看三倍的列數（151 列預設只看得到十幾列）</a:t>
            </a:r>
            <a:endParaRPr lang="en-US" sz="1100" dirty="0"/>
          </a:p>
          <a:p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D92D20"/>
                </a:solidFill>
              </a:rPr>
              <a:t>③ </a:t>
            </a:r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3C4252"/>
                </a:solidFill>
              </a:rPr>
              <a:t>表格可直接改 P/N、RC/EC、Description、Qty、Location（帶 </a:t>
            </a:r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100" b="1" dirty="0">
                <a:solidFill>
                  <a:srgbClr val="3C4252"/>
                </a:solidFill>
              </a:rPr>
              <a:t>(T)/(B)</a:t>
            </a:r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3C4252"/>
                </a:solidFill>
              </a:rPr>
              <a:t>，同 Excel）</a:t>
            </a:r>
            <a:endParaRPr lang="en-US" sz="1100" dirty="0"/>
          </a:p>
          <a:p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D92D20"/>
                </a:solidFill>
              </a:rPr>
              <a:t>④ </a:t>
            </a:r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3C4252"/>
                </a:solidFill>
              </a:rPr>
              <a:t>狀態欄：🔴 R8 降壓選料　⚠️ Location 未知　🟠🟡🟢 對應 Excel 色底</a:t>
            </a:r>
            <a:endParaRPr lang="en-US" sz="1100" dirty="0"/>
          </a:p>
        </p:txBody>
      </p:sp>
      <p:sp>
        <p:nvSpPr>
          <p:cNvPr id="15" name="warn"/>
          <p:cNvSpPr/>
          <p:nvPr/>
        </p:nvSpPr>
        <p:spPr>
          <a:xfrm>
            <a:off x="6172200" y="3383280"/>
            <a:ext cx="2514600" cy="1298448"/>
          </a:xfrm>
          <a:prstGeom prst="roundRect">
            <a:avLst>
              <a:gd name="adj" fmla="val 4225"/>
            </a:avLst>
          </a:prstGeom>
          <a:solidFill>
            <a:srgbClr val="FFF6EC"/>
          </a:solidFill>
          <a:ln w="12700">
            <a:solidFill>
              <a:srgbClr val="F0D3A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300216" y="3529584"/>
            <a:ext cx="118872" cy="118872"/>
          </a:xfrm>
          <a:prstGeom prst="ellipse">
            <a:avLst/>
          </a:prstGeom>
          <a:solidFill>
            <a:srgbClr val="E8863A"/>
          </a:solidFill>
          <a:ln w="12700">
            <a:solidFill>
              <a:srgbClr val="E8863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73952" y="3465576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4413"/>
                </a:solidFill>
              </a:rPr>
              <a:t>注意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6300216" y="3730752"/>
            <a:ext cx="225856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4413"/>
                </a:solidFill>
              </a:rPr>
              <a:t>S 案的「✎ 編輯」頁籤不顯示色底 —— 這是 Streamlit 的限制。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4413"/>
                </a:solidFill>
              </a:rPr>
              <a:t>要看色底請切到「🎨 色底檢視」頁籤（唯讀）。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C2E"/>
                </a:solidFill>
              </a:rPr>
              <a:t>步驟 3　產出 E-BOM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274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u="sng" dirty="0">
                <a:solidFill>
                  <a:srgbClr val="4F46E5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目錄</a:t>
            </a:r>
            <a:endParaRPr lang="en-US" sz="900" dirty="0"/>
          </a:p>
        </p:txBody>
      </p:sp>
      <p:pic>
        <p:nvPicPr>
          <p:cNvPr id="4" name="shot" descr="F:\AI_BOM\docs\sop\shots\S_04_expo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60120"/>
            <a:ext cx="5440680" cy="355911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960120"/>
            <a:ext cx="5440680" cy="355911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640804" y="1464945"/>
            <a:ext cx="169164" cy="169164"/>
          </a:xfrm>
          <a:prstGeom prst="ellipse">
            <a:avLst/>
          </a:prstGeom>
          <a:solidFill>
            <a:srgbClr val="D92D2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556222" y="1380363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3640804" y="1842770"/>
            <a:ext cx="169164" cy="169164"/>
          </a:xfrm>
          <a:prstGeom prst="ellipse">
            <a:avLst/>
          </a:prstGeom>
          <a:solidFill>
            <a:srgbClr val="D92D2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556222" y="1758188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2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1842357" y="2054352"/>
            <a:ext cx="169164" cy="169164"/>
          </a:xfrm>
          <a:prstGeom prst="ellipse">
            <a:avLst/>
          </a:prstGeom>
          <a:solidFill>
            <a:srgbClr val="D92D2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757775" y="1969770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3640804" y="2764663"/>
            <a:ext cx="169164" cy="169164"/>
          </a:xfrm>
          <a:prstGeom prst="ellipse">
            <a:avLst/>
          </a:prstGeom>
          <a:solidFill>
            <a:srgbClr val="D92D2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556222" y="2680081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4</a:t>
            </a:r>
            <a:endParaRPr lang="en-US" sz="850" dirty="0"/>
          </a:p>
        </p:txBody>
      </p:sp>
      <p:sp>
        <p:nvSpPr>
          <p:cNvPr id="14" name="Text 11"/>
          <p:cNvSpPr txBox="1"/>
          <p:nvPr/>
        </p:nvSpPr>
        <p:spPr>
          <a:xfrm>
            <a:off x="6172200" y="960120"/>
            <a:ext cx="2514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D92D20"/>
                </a:solidFill>
              </a:rPr>
              <a:t>① </a:t>
            </a:r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3C4252"/>
                </a:solidFill>
              </a:rPr>
              <a:t>上方灰框是這次要寫出去的完整路徑</a:t>
            </a:r>
            <a:endParaRPr lang="en-US" sz="1100" dirty="0"/>
          </a:p>
          <a:p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D92D20"/>
                </a:solidFill>
              </a:rPr>
              <a:t>② </a:t>
            </a:r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3C4252"/>
                </a:solidFill>
              </a:rPr>
              <a:t>已經有同名檔時會出現</a:t>
            </a:r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100" b="1" dirty="0">
                <a:solidFill>
                  <a:srgbClr val="3C4252"/>
                </a:solidFill>
              </a:rPr>
              <a:t>黃色警告</a:t>
            </a:r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D92D20"/>
                </a:solidFill>
              </a:rPr>
              <a:t>③ </a:t>
            </a:r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3C4252"/>
                </a:solidFill>
              </a:rPr>
              <a:t>要勾「確認覆蓋」，「▶ 產出 Excel」才按得下去（沒勾是灰的）</a:t>
            </a:r>
            <a:endParaRPr lang="en-US" sz="1100" dirty="0"/>
          </a:p>
          <a:p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D92D20"/>
                </a:solidFill>
              </a:rPr>
              <a:t>④ </a:t>
            </a:r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3C4252"/>
                </a:solidFill>
              </a:rPr>
              <a:t>下方日誌和 W 案同一套配色：✓ 綠、</a:t>
            </a:r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100" b="1" dirty="0">
                <a:solidFill>
                  <a:srgbClr val="3C4252"/>
                </a:solidFill>
              </a:rPr>
              <a:t>[請人工確認] / [警告] / [提示] 紅</a:t>
            </a:r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endParaRPr lang="en-US" sz="1100" dirty="0"/>
          </a:p>
        </p:txBody>
      </p:sp>
      <p:sp>
        <p:nvSpPr>
          <p:cNvPr id="15" name="warn"/>
          <p:cNvSpPr/>
          <p:nvPr/>
        </p:nvSpPr>
        <p:spPr>
          <a:xfrm>
            <a:off x="6172200" y="3383280"/>
            <a:ext cx="2514600" cy="1298448"/>
          </a:xfrm>
          <a:prstGeom prst="roundRect">
            <a:avLst>
              <a:gd name="adj" fmla="val 4225"/>
            </a:avLst>
          </a:prstGeom>
          <a:solidFill>
            <a:srgbClr val="FFF6EC"/>
          </a:solidFill>
          <a:ln w="12700">
            <a:solidFill>
              <a:srgbClr val="F0D3A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300216" y="3529584"/>
            <a:ext cx="118872" cy="118872"/>
          </a:xfrm>
          <a:prstGeom prst="ellipse">
            <a:avLst/>
          </a:prstGeom>
          <a:solidFill>
            <a:srgbClr val="E8863A"/>
          </a:solidFill>
          <a:ln w="12700">
            <a:solidFill>
              <a:srgbClr val="E8863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73952" y="3465576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4413"/>
                </a:solidFill>
              </a:rPr>
              <a:t>注意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6300216" y="3730752"/>
            <a:ext cx="225856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4413"/>
                </a:solidFill>
              </a:rPr>
              <a:t>最後一行的「113 項（含PCB）→ 151 列」要對得上預期。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4413"/>
                </a:solidFill>
              </a:rPr>
              <a:t>列數比項數多，是因為替代料被拆成獨立列。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C2E"/>
                </a:solidFill>
              </a:rPr>
              <a:t>右上角的選單（三個點）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274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u="sng" dirty="0">
                <a:solidFill>
                  <a:srgbClr val="4F46E5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目錄</a:t>
            </a:r>
            <a:endParaRPr lang="en-US" sz="900" dirty="0"/>
          </a:p>
        </p:txBody>
      </p:sp>
      <p:pic>
        <p:nvPicPr>
          <p:cNvPr id="4" name="shot" descr="F:\AI_BOM\docs\sop\shots\S_05_menu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60120"/>
            <a:ext cx="5440680" cy="355911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960120"/>
            <a:ext cx="5440680" cy="355911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246561" y="1140016"/>
            <a:ext cx="169164" cy="169164"/>
          </a:xfrm>
          <a:prstGeom prst="ellipse">
            <a:avLst/>
          </a:prstGeom>
          <a:solidFill>
            <a:srgbClr val="D92D2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161978" y="1055434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5246561" y="1268476"/>
            <a:ext cx="169164" cy="169164"/>
          </a:xfrm>
          <a:prstGeom prst="ellipse">
            <a:avLst/>
          </a:prstGeom>
          <a:solidFill>
            <a:srgbClr val="D92D2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161978" y="1183894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2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5658390" y="985107"/>
            <a:ext cx="169164" cy="169164"/>
          </a:xfrm>
          <a:prstGeom prst="ellipse">
            <a:avLst/>
          </a:prstGeom>
          <a:solidFill>
            <a:srgbClr val="D92D2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573808" y="900525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939355" y="3346514"/>
            <a:ext cx="169164" cy="169164"/>
          </a:xfrm>
          <a:prstGeom prst="ellipse">
            <a:avLst/>
          </a:prstGeom>
          <a:solidFill>
            <a:srgbClr val="D92D2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54773" y="3261932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4</a:t>
            </a:r>
            <a:endParaRPr lang="en-US" sz="850" dirty="0"/>
          </a:p>
        </p:txBody>
      </p:sp>
      <p:sp>
        <p:nvSpPr>
          <p:cNvPr id="14" name="Text 11"/>
          <p:cNvSpPr txBox="1"/>
          <p:nvPr/>
        </p:nvSpPr>
        <p:spPr>
          <a:xfrm>
            <a:off x="6172200" y="960120"/>
            <a:ext cx="2514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D92D20"/>
                </a:solidFill>
              </a:rPr>
              <a:t>① </a:t>
            </a:r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3C4252"/>
                </a:solidFill>
              </a:rPr>
              <a:t>只剩兩項：</a:t>
            </a:r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100" b="1" dirty="0">
                <a:solidFill>
                  <a:srgbClr val="3C4252"/>
                </a:solidFill>
              </a:rPr>
              <a:t>Print</a:t>
            </a:r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3C4252"/>
                </a:solidFill>
              </a:rPr>
              <a:t>（列印目前頁面）、</a:t>
            </a:r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100" b="1" dirty="0">
                <a:solidFill>
                  <a:srgbClr val="3C4252"/>
                </a:solidFill>
              </a:rPr>
              <a:t>Record screen</a:t>
            </a:r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3C4252"/>
                </a:solidFill>
              </a:rPr>
              <a:t>（把操作過程錄成影片）</a:t>
            </a:r>
            <a:endParaRPr lang="en-US" sz="1100" dirty="0"/>
          </a:p>
          <a:p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D92D20"/>
                </a:solidFill>
              </a:rPr>
              <a:t>② </a:t>
            </a:r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3C4252"/>
                </a:solidFill>
              </a:rPr>
              <a:t>Record screen 適合回報問題：錄下操作步驟，存成檔案寄給維護人員</a:t>
            </a:r>
            <a:endParaRPr lang="en-US" sz="1100" dirty="0"/>
          </a:p>
          <a:p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D92D20"/>
                </a:solidFill>
              </a:rPr>
              <a:t>③ </a:t>
            </a:r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3C4252"/>
                </a:solidFill>
              </a:rPr>
              <a:t>Streamlit 的 Deploy 按鈕與開發者選項已經關掉，不會出現</a:t>
            </a:r>
            <a:endParaRPr lang="en-US" sz="1100" dirty="0"/>
          </a:p>
          <a:p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D92D20"/>
                </a:solidFill>
              </a:rPr>
              <a:t>④ </a:t>
            </a:r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3C4252"/>
                </a:solidFill>
              </a:rPr>
              <a:t>要重抓資料夾裡的檔案，用左側「↺ 重新掃描目錄」</a:t>
            </a:r>
            <a:endParaRPr lang="en-US" sz="1100" dirty="0"/>
          </a:p>
        </p:txBody>
      </p:sp>
      <p:sp>
        <p:nvSpPr>
          <p:cNvPr id="15" name="warn"/>
          <p:cNvSpPr/>
          <p:nvPr/>
        </p:nvSpPr>
        <p:spPr>
          <a:xfrm>
            <a:off x="6172200" y="3383280"/>
            <a:ext cx="2514600" cy="1298448"/>
          </a:xfrm>
          <a:prstGeom prst="roundRect">
            <a:avLst>
              <a:gd name="adj" fmla="val 4225"/>
            </a:avLst>
          </a:prstGeom>
          <a:solidFill>
            <a:srgbClr val="FFF6EC"/>
          </a:solidFill>
          <a:ln w="12700">
            <a:solidFill>
              <a:srgbClr val="F0D3A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300216" y="3529584"/>
            <a:ext cx="118872" cy="118872"/>
          </a:xfrm>
          <a:prstGeom prst="ellipse">
            <a:avLst/>
          </a:prstGeom>
          <a:solidFill>
            <a:srgbClr val="E8863A"/>
          </a:solidFill>
          <a:ln w="12700">
            <a:solidFill>
              <a:srgbClr val="E8863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73952" y="3465576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4413"/>
                </a:solidFill>
              </a:rPr>
              <a:t>注意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6300216" y="3730752"/>
            <a:ext cx="225856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4413"/>
                </a:solidFill>
              </a:rPr>
              <a:t>瀏覽器重新整理（F5）會清掉這次的比對結果與手動修改，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4413"/>
                </a:solidFill>
              </a:rPr>
              <a:t>要重新執行比對。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C2E"/>
                </a:solidFill>
              </a:rPr>
              <a:t>S 案其他頁面與 W 案對照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274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u="sng" dirty="0">
                <a:solidFill>
                  <a:srgbClr val="4F46E5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目錄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87552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383280"/>
                <a:gridCol w="33832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頁面</a:t>
                      </a:r>
                      <a:endParaRPr lang="en-US" sz="105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S 案</a:t>
                      </a:r>
                      <a:endParaRPr lang="en-US" sz="105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W 案</a:t>
                      </a:r>
                      <a:endParaRPr lang="en-US" sz="105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F46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Knowledge 命中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C4252"/>
                          </a:solidFill>
                        </a:rPr>
                        <a:t>每筆一張卡片，「✕ 忽略此筆」</a:t>
                      </a:r>
                      <a:endParaRPr lang="en-US" sz="105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C4252"/>
                          </a:solidFill>
                        </a:rPr>
                        <a:t>同左（W 案步驟 3）</a:t>
                      </a:r>
                      <a:endParaRPr lang="en-US" sz="105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F46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表頭資訊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C4252"/>
                          </a:solidFill>
                        </a:rPr>
                        <a:t>九個欄位，留空就是空白</a:t>
                      </a:r>
                      <a:endParaRPr lang="en-US" sz="105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C4252"/>
                          </a:solidFill>
                        </a:rPr>
                        <a:t>同左（W 案步驟 4）</a:t>
                      </a:r>
                      <a:endParaRPr lang="en-US" sz="105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F46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色底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C4252"/>
                          </a:solidFill>
                        </a:rPr>
                        <a:t>「🎨 色底檢視」頁籤（唯讀）</a:t>
                      </a:r>
                      <a:endParaRPr lang="en-US" sz="105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C4252"/>
                          </a:solidFill>
                        </a:rPr>
                        <a:t>表格直接上色，可邊看邊改</a:t>
                      </a:r>
                      <a:endParaRPr lang="en-US" sz="105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F46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覆蓋確認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C4252"/>
                          </a:solidFill>
                        </a:rPr>
                        <a:t>勾「確認覆蓋」才能產出</a:t>
                      </a:r>
                      <a:endParaRPr lang="en-US" sz="105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C4252"/>
                          </a:solidFill>
                        </a:rPr>
                        <a:t>跳出確認對話框</a:t>
                      </a:r>
                      <a:endParaRPr lang="en-US" sz="105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F46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開啟時的頁面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C4252"/>
                          </a:solidFill>
                        </a:rPr>
                        <a:t>比對結果（先按「▶ 執行比對」）</a:t>
                      </a:r>
                      <a:endParaRPr lang="en-US" sz="105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C4252"/>
                          </a:solidFill>
                        </a:rPr>
                        <a:t>檔案設定</a:t>
                      </a:r>
                      <a:endParaRPr lang="en-US" sz="105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331927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7180"/>
                </a:solidFill>
              </a:rPr>
              <a:t>兩案共用同一份核心，同一份輸入產出的 Excel 完全相同。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7180"/>
                </a:solidFill>
              </a:rPr>
              <a:t>Knowledge 與表頭的操作見 W 案步驟 3、4。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89888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8D86F0"/>
                </a:solidFill>
              </a:rPr>
              <a:t>04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51460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W 案　原生視窗</a:t>
            </a:r>
            <a:endParaRPr lang="en-US" sz="3600" dirty="0"/>
          </a:p>
        </p:txBody>
      </p:sp>
      <p:sp>
        <p:nvSpPr>
          <p:cNvPr id="4" name="Text 2">
            <a:hlinkClick r:id="rId1" tooltip="" action="ppaction://hlinksldjump"/>
          </p:cNvPr>
          <p:cNvSpPr txBox="1"/>
          <p:nvPr/>
        </p:nvSpPr>
        <p:spPr>
          <a:xfrm>
            <a:off x="7406640" y="46634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C9C5F8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回目錄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C2E"/>
                </a:solidFill>
              </a:rPr>
              <a:t>步驟 1　檔案設定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274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u="sng" dirty="0">
                <a:solidFill>
                  <a:srgbClr val="4F46E5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目錄</a:t>
            </a:r>
            <a:endParaRPr lang="en-US" sz="900" dirty="0"/>
          </a:p>
        </p:txBody>
      </p:sp>
      <p:pic>
        <p:nvPicPr>
          <p:cNvPr id="4" name="shot" descr="F:\AI_BOM\docs\sop\shots\W_01_fil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60120"/>
            <a:ext cx="5440680" cy="348543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960120"/>
            <a:ext cx="5440680" cy="348543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73256" y="1491865"/>
            <a:ext cx="169164" cy="169164"/>
          </a:xfrm>
          <a:prstGeom prst="ellipse">
            <a:avLst/>
          </a:prstGeom>
          <a:solidFill>
            <a:srgbClr val="D92D2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388674" y="1407283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3717786" y="2499241"/>
            <a:ext cx="169164" cy="169164"/>
          </a:xfrm>
          <a:prstGeom prst="ellipse">
            <a:avLst/>
          </a:prstGeom>
          <a:solidFill>
            <a:srgbClr val="D92D2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633204" y="2414659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2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717786" y="2771275"/>
            <a:ext cx="169164" cy="169164"/>
          </a:xfrm>
          <a:prstGeom prst="ellipse">
            <a:avLst/>
          </a:prstGeom>
          <a:solidFill>
            <a:srgbClr val="D92D2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633204" y="2686693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191845" y="3183576"/>
            <a:ext cx="169164" cy="169164"/>
          </a:xfrm>
          <a:prstGeom prst="ellipse">
            <a:avLst/>
          </a:prstGeom>
          <a:solidFill>
            <a:srgbClr val="D92D2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107263" y="3098994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4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47990" y="3850910"/>
            <a:ext cx="169164" cy="169164"/>
          </a:xfrm>
          <a:prstGeom prst="ellipse">
            <a:avLst/>
          </a:prstGeom>
          <a:solidFill>
            <a:srgbClr val="D92D2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263408" y="3766328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5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2357616" y="3328095"/>
            <a:ext cx="169164" cy="169164"/>
          </a:xfrm>
          <a:prstGeom prst="ellipse">
            <a:avLst/>
          </a:prstGeom>
          <a:solidFill>
            <a:srgbClr val="D92D2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2273034" y="3243513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6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6172200" y="960120"/>
            <a:ext cx="2514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D92D20"/>
                </a:solidFill>
              </a:rPr>
              <a:t>① </a:t>
            </a:r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3C4252"/>
                </a:solidFill>
              </a:rPr>
              <a:t>欄位與 S 案相同；輸入檔按「瀏覽…」，輸出路徑按「變更…」</a:t>
            </a:r>
            <a:endParaRPr lang="en-US" sz="1100" dirty="0"/>
          </a:p>
          <a:p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D92D20"/>
                </a:solidFill>
              </a:rPr>
              <a:t>② </a:t>
            </a:r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100" b="1" dirty="0">
                <a:solidFill>
                  <a:srgbClr val="3C4252"/>
                </a:solidFill>
              </a:rPr>
              <a:t>Location TOP/BOT 對照表</a:t>
            </a:r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3C4252"/>
                </a:solidFill>
              </a:rPr>
              <a:t>：選填，給了就切換成雙面板模式</a:t>
            </a:r>
            <a:endParaRPr lang="en-US" sz="1100" dirty="0"/>
          </a:p>
          <a:p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D92D20"/>
                </a:solidFill>
              </a:rPr>
              <a:t>③ </a:t>
            </a:r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100" b="1" dirty="0">
                <a:solidFill>
                  <a:srgbClr val="3C4252"/>
                </a:solidFill>
              </a:rPr>
              <a:t>PCB 圖片（BOT 面）</a:t>
            </a:r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3C4252"/>
                </a:solidFill>
              </a:rPr>
              <a:t>：雙面板時提供兩張，圖片區自動切成上下兩半</a:t>
            </a:r>
            <a:endParaRPr lang="en-US" sz="1100" dirty="0"/>
          </a:p>
          <a:p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D92D20"/>
                </a:solidFill>
              </a:rPr>
              <a:t>④ </a:t>
            </a:r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3C4252"/>
                </a:solidFill>
              </a:rPr>
              <a:t>「替代料拆列」打勾時一列只有一個 P/N；取消勾選會回到 a;b 單列格式</a:t>
            </a:r>
            <a:endParaRPr lang="en-US" sz="1100" dirty="0"/>
          </a:p>
          <a:p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D92D20"/>
                </a:solidFill>
              </a:rPr>
              <a:t>⑤ </a:t>
            </a:r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3C4252"/>
                </a:solidFill>
              </a:rPr>
              <a:t>下方黑色區塊是執行日誌</a:t>
            </a:r>
            <a:endParaRPr lang="en-US" sz="1100" dirty="0"/>
          </a:p>
          <a:p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D92D20"/>
                </a:solidFill>
              </a:rPr>
              <a:t>⑥ </a:t>
            </a:r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3C4252"/>
                </a:solidFill>
              </a:rPr>
              <a:t>按「▶ 執行比對」開始</a:t>
            </a:r>
            <a:endParaRPr lang="en-US" sz="1100" dirty="0"/>
          </a:p>
        </p:txBody>
      </p:sp>
      <p:sp>
        <p:nvSpPr>
          <p:cNvPr id="19" name="warn"/>
          <p:cNvSpPr/>
          <p:nvPr/>
        </p:nvSpPr>
        <p:spPr>
          <a:xfrm>
            <a:off x="6172200" y="3383280"/>
            <a:ext cx="2514600" cy="1298448"/>
          </a:xfrm>
          <a:prstGeom prst="roundRect">
            <a:avLst>
              <a:gd name="adj" fmla="val 4225"/>
            </a:avLst>
          </a:prstGeom>
          <a:solidFill>
            <a:srgbClr val="FFF6EC"/>
          </a:solidFill>
          <a:ln w="12700">
            <a:solidFill>
              <a:srgbClr val="F0D3AE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300216" y="3529584"/>
            <a:ext cx="118872" cy="118872"/>
          </a:xfrm>
          <a:prstGeom prst="ellipse">
            <a:avLst/>
          </a:prstGeom>
          <a:solidFill>
            <a:srgbClr val="E8863A"/>
          </a:solidFill>
          <a:ln w="12700">
            <a:solidFill>
              <a:srgbClr val="E8863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473952" y="3465576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4413"/>
                </a:solidFill>
              </a:rPr>
              <a:t>注意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6300216" y="3730752"/>
            <a:ext cx="225856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4413"/>
                </a:solidFill>
              </a:rPr>
              <a:t>標題列會標出啟動用的 .bat：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4413"/>
                </a:solidFill>
              </a:rPr>
              <a:t>BOM Matcher v0.10　[run_W_webview.bat]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C2E"/>
                </a:solidFill>
              </a:rPr>
              <a:t>步驟 2　比對結果與人工修正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274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u="sng" dirty="0">
                <a:solidFill>
                  <a:srgbClr val="4F46E5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目錄</a:t>
            </a:r>
            <a:endParaRPr lang="en-US" sz="900" dirty="0"/>
          </a:p>
        </p:txBody>
      </p:sp>
      <p:pic>
        <p:nvPicPr>
          <p:cNvPr id="4" name="shot" descr="F:\AI_BOM\docs\sop\shots\W_02_row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60120"/>
            <a:ext cx="5440680" cy="348543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960120"/>
            <a:ext cx="5440680" cy="348543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647777" y="1865912"/>
            <a:ext cx="169164" cy="169164"/>
          </a:xfrm>
          <a:prstGeom prst="ellipse">
            <a:avLst/>
          </a:prstGeom>
          <a:solidFill>
            <a:srgbClr val="D92D2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563195" y="1781330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1724287" y="2167700"/>
            <a:ext cx="169164" cy="169164"/>
          </a:xfrm>
          <a:prstGeom prst="ellipse">
            <a:avLst/>
          </a:prstGeom>
          <a:solidFill>
            <a:srgbClr val="D92D2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639705" y="2083118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2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030325" y="2711767"/>
            <a:ext cx="169164" cy="169164"/>
          </a:xfrm>
          <a:prstGeom prst="ellipse">
            <a:avLst/>
          </a:prstGeom>
          <a:solidFill>
            <a:srgbClr val="D92D2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945743" y="2627186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837926" y="2167700"/>
            <a:ext cx="169164" cy="169164"/>
          </a:xfrm>
          <a:prstGeom prst="ellipse">
            <a:avLst/>
          </a:prstGeom>
          <a:solidFill>
            <a:srgbClr val="D92D2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753344" y="2083118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4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730538" y="2167700"/>
            <a:ext cx="169164" cy="169164"/>
          </a:xfrm>
          <a:prstGeom prst="ellipse">
            <a:avLst/>
          </a:prstGeom>
          <a:solidFill>
            <a:srgbClr val="D92D2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645956" y="2083118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5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1605272" y="3128320"/>
            <a:ext cx="169164" cy="169164"/>
          </a:xfrm>
          <a:prstGeom prst="ellipse">
            <a:avLst/>
          </a:prstGeom>
          <a:solidFill>
            <a:srgbClr val="D92D2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520690" y="3043738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6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6172200" y="960120"/>
            <a:ext cx="2514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D92D20"/>
                </a:solidFill>
              </a:rPr>
              <a:t>① </a:t>
            </a:r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3C4252"/>
                </a:solidFill>
              </a:rPr>
              <a:t>表格上方的</a:t>
            </a:r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100" b="1" dirty="0">
                <a:solidFill>
                  <a:srgbClr val="3C4252"/>
                </a:solidFill>
              </a:rPr>
              <a:t>篩選鈕</a:t>
            </a:r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3C4252"/>
                </a:solidFill>
              </a:rPr>
              <a:t>：全部 / 未命中 / NC / 替代料 / Knowledge / 需確認 / Location 未知，右邊還有搜尋框</a:t>
            </a:r>
            <a:endParaRPr lang="en-US" sz="1100" dirty="0"/>
          </a:p>
          <a:p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D92D20"/>
                </a:solidFill>
              </a:rPr>
              <a:t>② </a:t>
            </a:r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100" b="1" dirty="0">
                <a:solidFill>
                  <a:srgbClr val="3C4252"/>
                </a:solidFill>
              </a:rPr>
              <a:t>所有欄位都在表格裡改</a:t>
            </a:r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3C4252"/>
                </a:solidFill>
              </a:rPr>
              <a:t>：RC/EC 是下拉，其餘直接點進格子打字</a:t>
            </a:r>
            <a:endParaRPr lang="en-US" sz="1100" dirty="0"/>
          </a:p>
          <a:p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D92D20"/>
                </a:solidFill>
              </a:rPr>
              <a:t>③ </a:t>
            </a:r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3C4252"/>
                </a:solidFill>
              </a:rPr>
              <a:t>未命中的列顯示「— 無命中 —」，直接在格子裡補料號</a:t>
            </a:r>
            <a:endParaRPr lang="en-US" sz="1100" dirty="0"/>
          </a:p>
          <a:p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D92D20"/>
                </a:solidFill>
              </a:rPr>
              <a:t>④ </a:t>
            </a:r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3C4252"/>
                </a:solidFill>
              </a:rPr>
              <a:t>滑過 Description 會跳氣泡，顯示 </a:t>
            </a:r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100" b="1" dirty="0">
                <a:solidFill>
                  <a:srgbClr val="3C4252"/>
                </a:solidFill>
              </a:rPr>
              <a:t>Footprint、原始 Part、比對狀態</a:t>
            </a:r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3C4252"/>
                </a:solidFill>
              </a:rPr>
              <a:t>與完整描述</a:t>
            </a:r>
            <a:endParaRPr lang="en-US" sz="1100" dirty="0"/>
          </a:p>
          <a:p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D92D20"/>
                </a:solidFill>
              </a:rPr>
              <a:t>⑤ </a:t>
            </a:r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3C4252"/>
                </a:solidFill>
              </a:rPr>
              <a:t>Location 欄放不下時一樣跳氣泡，列出完整清單與個數</a:t>
            </a:r>
            <a:endParaRPr lang="en-US" sz="1100" dirty="0"/>
          </a:p>
          <a:p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D92D20"/>
                </a:solidFill>
              </a:rPr>
              <a:t>⑥ </a:t>
            </a:r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3C4252"/>
                </a:solidFill>
              </a:rPr>
              <a:t>下方「</a:t>
            </a:r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100" b="1" dirty="0">
                <a:solidFill>
                  <a:srgbClr val="3C4252"/>
                </a:solidFill>
              </a:rPr>
              <a:t>執行日誌</a:t>
            </a:r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3C4252"/>
                </a:solidFill>
              </a:rPr>
              <a:t>」整列寬，可收合；[請人工確認] / [警告] / [提示] 是紅字</a:t>
            </a:r>
            <a:endParaRPr lang="en-US" sz="1100" dirty="0"/>
          </a:p>
        </p:txBody>
      </p:sp>
      <p:sp>
        <p:nvSpPr>
          <p:cNvPr id="19" name="warn"/>
          <p:cNvSpPr/>
          <p:nvPr/>
        </p:nvSpPr>
        <p:spPr>
          <a:xfrm>
            <a:off x="6172200" y="3383280"/>
            <a:ext cx="2514600" cy="1298448"/>
          </a:xfrm>
          <a:prstGeom prst="roundRect">
            <a:avLst>
              <a:gd name="adj" fmla="val 4225"/>
            </a:avLst>
          </a:prstGeom>
          <a:solidFill>
            <a:srgbClr val="FFF6EC"/>
          </a:solidFill>
          <a:ln w="12700">
            <a:solidFill>
              <a:srgbClr val="F0D3AE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300216" y="3529584"/>
            <a:ext cx="118872" cy="118872"/>
          </a:xfrm>
          <a:prstGeom prst="ellipse">
            <a:avLst/>
          </a:prstGeom>
          <a:solidFill>
            <a:srgbClr val="E8863A"/>
          </a:solidFill>
          <a:ln w="12700">
            <a:solidFill>
              <a:srgbClr val="E8863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473952" y="3465576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4413"/>
                </a:solidFill>
              </a:rPr>
              <a:t>注意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6300216" y="3730752"/>
            <a:ext cx="225856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4413"/>
                </a:solidFill>
              </a:rPr>
              <a:t>改了 Qty，右上角的 Total Qty 會立刻跟著變，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4413"/>
                </a:solidFill>
              </a:rPr>
              <a:t>可以用來確認改對了。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C2E"/>
                </a:solidFill>
              </a:rPr>
              <a:t>步驟 3　Knowledge 命中確認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274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u="sng" dirty="0">
                <a:solidFill>
                  <a:srgbClr val="4F46E5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目錄</a:t>
            </a:r>
            <a:endParaRPr lang="en-US" sz="900" dirty="0"/>
          </a:p>
        </p:txBody>
      </p:sp>
      <p:pic>
        <p:nvPicPr>
          <p:cNvPr id="4" name="shot" descr="F:\AI_BOM\docs\sop\shots\W_03_knowle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60120"/>
            <a:ext cx="5440680" cy="348543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960120"/>
            <a:ext cx="5440680" cy="348543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605272" y="1462111"/>
            <a:ext cx="169164" cy="169164"/>
          </a:xfrm>
          <a:prstGeom prst="ellipse">
            <a:avLst/>
          </a:prstGeom>
          <a:solidFill>
            <a:srgbClr val="D92D2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520690" y="1377529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2327862" y="1695891"/>
            <a:ext cx="169164" cy="169164"/>
          </a:xfrm>
          <a:prstGeom prst="ellipse">
            <a:avLst/>
          </a:prstGeom>
          <a:solidFill>
            <a:srgbClr val="D92D2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243280" y="1611309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2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5443502" y="1457861"/>
            <a:ext cx="169164" cy="169164"/>
          </a:xfrm>
          <a:prstGeom prst="ellipse">
            <a:avLst/>
          </a:prstGeom>
          <a:solidFill>
            <a:srgbClr val="D92D2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358920" y="1373279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497884" y="2750022"/>
            <a:ext cx="169164" cy="169164"/>
          </a:xfrm>
          <a:prstGeom prst="ellipse">
            <a:avLst/>
          </a:prstGeom>
          <a:solidFill>
            <a:srgbClr val="D92D2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413302" y="2665440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4</a:t>
            </a:r>
            <a:endParaRPr lang="en-US" sz="850" dirty="0"/>
          </a:p>
        </p:txBody>
      </p:sp>
      <p:sp>
        <p:nvSpPr>
          <p:cNvPr id="14" name="Text 11"/>
          <p:cNvSpPr txBox="1"/>
          <p:nvPr/>
        </p:nvSpPr>
        <p:spPr>
          <a:xfrm>
            <a:off x="6172200" y="960120"/>
            <a:ext cx="2514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D92D20"/>
                </a:solidFill>
              </a:rPr>
              <a:t>① </a:t>
            </a:r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3C4252"/>
                </a:solidFill>
              </a:rPr>
              <a:t>列出所有命中 Knowledge 的料件與對應注意事項</a:t>
            </a:r>
            <a:endParaRPr lang="en-US" sz="1100" dirty="0"/>
          </a:p>
          <a:p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D92D20"/>
                </a:solidFill>
              </a:rPr>
              <a:t>② </a:t>
            </a:r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3C4252"/>
                </a:solidFill>
              </a:rPr>
              <a:t>命中條件三選一：P/N 相同、品名是描述的子字串、包裝是描述的子字串</a:t>
            </a:r>
            <a:endParaRPr lang="en-US" sz="1100" dirty="0"/>
          </a:p>
          <a:p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D92D20"/>
                </a:solidFill>
              </a:rPr>
              <a:t>③ </a:t>
            </a:r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3C4252"/>
                </a:solidFill>
              </a:rPr>
              <a:t>判斷不適用就按「✕ 忽略此筆」</a:t>
            </a:r>
            <a:endParaRPr lang="en-US" sz="1100" dirty="0"/>
          </a:p>
          <a:p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D92D20"/>
                </a:solidFill>
              </a:rPr>
              <a:t>④ </a:t>
            </a:r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3C4252"/>
                </a:solidFill>
              </a:rPr>
              <a:t>忽略後該列不會標橘底，Note 也不會寫進 Excel</a:t>
            </a:r>
            <a:endParaRPr lang="en-US" sz="1100" dirty="0"/>
          </a:p>
        </p:txBody>
      </p:sp>
      <p:sp>
        <p:nvSpPr>
          <p:cNvPr id="15" name="warn"/>
          <p:cNvSpPr/>
          <p:nvPr/>
        </p:nvSpPr>
        <p:spPr>
          <a:xfrm>
            <a:off x="6172200" y="3383280"/>
            <a:ext cx="2514600" cy="1298448"/>
          </a:xfrm>
          <a:prstGeom prst="roundRect">
            <a:avLst>
              <a:gd name="adj" fmla="val 4225"/>
            </a:avLst>
          </a:prstGeom>
          <a:solidFill>
            <a:srgbClr val="FFF6EC"/>
          </a:solidFill>
          <a:ln w="12700">
            <a:solidFill>
              <a:srgbClr val="F0D3A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300216" y="3529584"/>
            <a:ext cx="118872" cy="118872"/>
          </a:xfrm>
          <a:prstGeom prst="ellipse">
            <a:avLst/>
          </a:prstGeom>
          <a:solidFill>
            <a:srgbClr val="E8863A"/>
          </a:solidFill>
          <a:ln w="12700">
            <a:solidFill>
              <a:srgbClr val="E8863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73952" y="3465576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4413"/>
                </a:solidFill>
              </a:rPr>
              <a:t>注意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6300216" y="3730752"/>
            <a:ext cx="225856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4413"/>
                </a:solidFill>
              </a:rPr>
              <a:t>包裝比對是子字串，可能誤命中。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4413"/>
                </a:solidFill>
              </a:rPr>
              <a:t>例如品名「TVS」會命中講 SOD-523 的條目，要人工判斷。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C2E"/>
                </a:solidFill>
              </a:rPr>
              <a:t>步驟 4　表頭資訊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274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u="sng" dirty="0">
                <a:solidFill>
                  <a:srgbClr val="4F46E5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目錄</a:t>
            </a:r>
            <a:endParaRPr lang="en-US" sz="900" dirty="0"/>
          </a:p>
        </p:txBody>
      </p:sp>
      <p:pic>
        <p:nvPicPr>
          <p:cNvPr id="4" name="shot" descr="F:\AI_BOM\docs\sop\shots\W_04_head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60120"/>
            <a:ext cx="5440680" cy="348543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960120"/>
            <a:ext cx="5440680" cy="348543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987820" y="1487614"/>
            <a:ext cx="169164" cy="169164"/>
          </a:xfrm>
          <a:prstGeom prst="ellipse">
            <a:avLst/>
          </a:prstGeom>
          <a:solidFill>
            <a:srgbClr val="D92D2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903238" y="1403032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1987820" y="1853160"/>
            <a:ext cx="169164" cy="169164"/>
          </a:xfrm>
          <a:prstGeom prst="ellipse">
            <a:avLst/>
          </a:prstGeom>
          <a:solidFill>
            <a:srgbClr val="D92D2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903238" y="1768578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2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1987820" y="2584252"/>
            <a:ext cx="169164" cy="169164"/>
          </a:xfrm>
          <a:prstGeom prst="ellipse">
            <a:avLst/>
          </a:prstGeom>
          <a:solidFill>
            <a:srgbClr val="D92D2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903238" y="2499670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3858054" y="2949797"/>
            <a:ext cx="169164" cy="169164"/>
          </a:xfrm>
          <a:prstGeom prst="ellipse">
            <a:avLst/>
          </a:prstGeom>
          <a:solidFill>
            <a:srgbClr val="D92D2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773472" y="2865215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4</a:t>
            </a:r>
            <a:endParaRPr lang="en-US" sz="850" dirty="0"/>
          </a:p>
        </p:txBody>
      </p:sp>
      <p:sp>
        <p:nvSpPr>
          <p:cNvPr id="14" name="Text 11"/>
          <p:cNvSpPr txBox="1"/>
          <p:nvPr/>
        </p:nvSpPr>
        <p:spPr>
          <a:xfrm>
            <a:off x="6172200" y="960120"/>
            <a:ext cx="2514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D92D20"/>
                </a:solidFill>
              </a:rPr>
              <a:t>① </a:t>
            </a:r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3C4252"/>
                </a:solidFill>
              </a:rPr>
              <a:t>對應輸出 Excel 的 rows 3–8</a:t>
            </a:r>
            <a:endParaRPr lang="en-US" sz="1100" dirty="0"/>
          </a:p>
          <a:p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D92D20"/>
                </a:solidFill>
              </a:rPr>
              <a:t>② </a:t>
            </a:r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3C4252"/>
                </a:solidFill>
              </a:rPr>
              <a:t>PCB板號 / PCB料號 / RC/EC NO. / PCB供應商 / PCB 規格</a:t>
            </a:r>
            <a:endParaRPr lang="en-US" sz="1100" dirty="0"/>
          </a:p>
          <a:p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D92D20"/>
                </a:solidFill>
              </a:rPr>
              <a:t>③ </a:t>
            </a:r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3C4252"/>
                </a:solidFill>
              </a:rPr>
              <a:t>發行序號 / 發行(改版)日期 / 目前版次 / Support IC Type</a:t>
            </a:r>
            <a:endParaRPr lang="en-US" sz="1100" dirty="0"/>
          </a:p>
          <a:p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D92D20"/>
                </a:solidFill>
              </a:rPr>
              <a:t>④ </a:t>
            </a:r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3C4252"/>
                </a:solidFill>
              </a:rPr>
              <a:t>留空就是空白，不影響其他功能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C2E"/>
                </a:solidFill>
              </a:rPr>
              <a:t>步驟 5　產出 E-BOM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274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u="sng" dirty="0">
                <a:solidFill>
                  <a:srgbClr val="4F46E5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目錄</a:t>
            </a:r>
            <a:endParaRPr lang="en-US" sz="900" dirty="0"/>
          </a:p>
        </p:txBody>
      </p:sp>
      <p:pic>
        <p:nvPicPr>
          <p:cNvPr id="4" name="shot" descr="F:\AI_BOM\docs\sop\shots\W_05_expo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60120"/>
            <a:ext cx="5440680" cy="348543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960120"/>
            <a:ext cx="5440680" cy="348543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390495" y="1542871"/>
            <a:ext cx="169164" cy="169164"/>
          </a:xfrm>
          <a:prstGeom prst="ellipse">
            <a:avLst/>
          </a:prstGeom>
          <a:solidFill>
            <a:srgbClr val="D92D2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305913" y="1458289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1669030" y="1882914"/>
            <a:ext cx="169164" cy="169164"/>
          </a:xfrm>
          <a:prstGeom prst="ellipse">
            <a:avLst/>
          </a:prstGeom>
          <a:solidFill>
            <a:srgbClr val="D92D2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584448" y="1798332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2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166342" y="1882914"/>
            <a:ext cx="169164" cy="169164"/>
          </a:xfrm>
          <a:prstGeom prst="ellipse">
            <a:avLst/>
          </a:prstGeom>
          <a:solidFill>
            <a:srgbClr val="D92D2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081760" y="1798332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412873" y="2150697"/>
            <a:ext cx="169164" cy="169164"/>
          </a:xfrm>
          <a:prstGeom prst="ellipse">
            <a:avLst/>
          </a:prstGeom>
          <a:solidFill>
            <a:srgbClr val="D92D2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328291" y="2066115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4</a:t>
            </a:r>
            <a:endParaRPr lang="en-US" sz="850" dirty="0"/>
          </a:p>
        </p:txBody>
      </p:sp>
      <p:sp>
        <p:nvSpPr>
          <p:cNvPr id="14" name="Text 11"/>
          <p:cNvSpPr txBox="1"/>
          <p:nvPr/>
        </p:nvSpPr>
        <p:spPr>
          <a:xfrm>
            <a:off x="6172200" y="960120"/>
            <a:ext cx="2514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D92D20"/>
                </a:solidFill>
              </a:rPr>
              <a:t>① </a:t>
            </a:r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3C4252"/>
                </a:solidFill>
              </a:rPr>
              <a:t>輸出路徑可以直接在這裡改，或按右邊的「變更…」</a:t>
            </a:r>
            <a:endParaRPr lang="en-US" sz="1100" dirty="0"/>
          </a:p>
          <a:p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D92D20"/>
                </a:solidFill>
              </a:rPr>
              <a:t>② </a:t>
            </a:r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3C4252"/>
                </a:solidFill>
              </a:rPr>
              <a:t>確認無誤後按「▶ 產出 Excel」</a:t>
            </a:r>
            <a:endParaRPr lang="en-US" sz="1100" dirty="0"/>
          </a:p>
          <a:p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D92D20"/>
                </a:solidFill>
              </a:rPr>
              <a:t>③ </a:t>
            </a:r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3C4252"/>
                </a:solidFill>
              </a:rPr>
              <a:t>「開啟輸出資料夾」會直接叫出檔案總管</a:t>
            </a:r>
            <a:endParaRPr lang="en-US" sz="1100" dirty="0"/>
          </a:p>
          <a:p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D92D20"/>
                </a:solidFill>
              </a:rPr>
              <a:t>④ </a:t>
            </a:r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3C4252"/>
                </a:solidFill>
              </a:rPr>
              <a:t>同名檔會先跳確認視窗；按「取消」就不產出，確定覆蓋時日誌會留下紀錄</a:t>
            </a:r>
            <a:endParaRPr lang="en-US" sz="1100" dirty="0"/>
          </a:p>
        </p:txBody>
      </p:sp>
      <p:sp>
        <p:nvSpPr>
          <p:cNvPr id="15" name="warn"/>
          <p:cNvSpPr/>
          <p:nvPr/>
        </p:nvSpPr>
        <p:spPr>
          <a:xfrm>
            <a:off x="6172200" y="3383280"/>
            <a:ext cx="2514600" cy="1298448"/>
          </a:xfrm>
          <a:prstGeom prst="roundRect">
            <a:avLst>
              <a:gd name="adj" fmla="val 4225"/>
            </a:avLst>
          </a:prstGeom>
          <a:solidFill>
            <a:srgbClr val="FFF6EC"/>
          </a:solidFill>
          <a:ln w="12700">
            <a:solidFill>
              <a:srgbClr val="F0D3A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300216" y="3529584"/>
            <a:ext cx="118872" cy="118872"/>
          </a:xfrm>
          <a:prstGeom prst="ellipse">
            <a:avLst/>
          </a:prstGeom>
          <a:solidFill>
            <a:srgbClr val="E8863A"/>
          </a:solidFill>
          <a:ln w="12700">
            <a:solidFill>
              <a:srgbClr val="E8863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73952" y="3465576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4413"/>
                </a:solidFill>
              </a:rPr>
              <a:t>注意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6300216" y="3730752"/>
            <a:ext cx="225856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4413"/>
                </a:solidFill>
              </a:rPr>
              <a:t>檔案設定與比對結果頁的右上角也有「▶ 產出 E-BOM」，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4413"/>
                </a:solidFill>
              </a:rPr>
              <a:t>不必切到這一頁也能產出。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89888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8D86F0"/>
                </a:solidFill>
              </a:rPr>
              <a:t>05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51460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雙面板　TOP / BOT</a:t>
            </a:r>
            <a:endParaRPr lang="en-US" sz="3600" dirty="0"/>
          </a:p>
        </p:txBody>
      </p:sp>
      <p:sp>
        <p:nvSpPr>
          <p:cNvPr id="4" name="Text 2">
            <a:hlinkClick r:id="rId1" tooltip="" action="ppaction://hlinksldjump"/>
          </p:cNvPr>
          <p:cNvSpPr txBox="1"/>
          <p:nvPr/>
        </p:nvSpPr>
        <p:spPr>
          <a:xfrm>
            <a:off x="7406640" y="46634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C9C5F8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回目錄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C2E"/>
                </a:solidFill>
              </a:rPr>
              <a:t>Location 查不到 Top/Bot 時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274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u="sng" dirty="0">
                <a:solidFill>
                  <a:srgbClr val="4F46E5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目錄</a:t>
            </a:r>
            <a:endParaRPr lang="en-US" sz="900" dirty="0"/>
          </a:p>
        </p:txBody>
      </p:sp>
      <p:pic>
        <p:nvPicPr>
          <p:cNvPr id="4" name="shot" descr="F:\AI_BOM\docs\sop\shots\W_06_unknow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60120"/>
            <a:ext cx="5440680" cy="348543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960120"/>
            <a:ext cx="5440680" cy="348543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441502" y="1976426"/>
            <a:ext cx="169164" cy="169164"/>
          </a:xfrm>
          <a:prstGeom prst="ellipse">
            <a:avLst/>
          </a:prstGeom>
          <a:solidFill>
            <a:srgbClr val="D92D2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356920" y="1891844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1647777" y="2337721"/>
            <a:ext cx="169164" cy="169164"/>
          </a:xfrm>
          <a:prstGeom prst="ellipse">
            <a:avLst/>
          </a:prstGeom>
          <a:solidFill>
            <a:srgbClr val="D92D2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563195" y="2253139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2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4036576" y="2388727"/>
            <a:ext cx="169164" cy="169164"/>
          </a:xfrm>
          <a:prstGeom prst="ellipse">
            <a:avLst/>
          </a:prstGeom>
          <a:solidFill>
            <a:srgbClr val="D92D2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951994" y="2304145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4963192" y="3128320"/>
            <a:ext cx="169164" cy="169164"/>
          </a:xfrm>
          <a:prstGeom prst="ellipse">
            <a:avLst/>
          </a:prstGeom>
          <a:solidFill>
            <a:srgbClr val="D92D2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878610" y="3043738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4</a:t>
            </a:r>
            <a:endParaRPr lang="en-US" sz="850" dirty="0"/>
          </a:p>
        </p:txBody>
      </p:sp>
      <p:sp>
        <p:nvSpPr>
          <p:cNvPr id="14" name="Text 11"/>
          <p:cNvSpPr txBox="1"/>
          <p:nvPr/>
        </p:nvSpPr>
        <p:spPr>
          <a:xfrm>
            <a:off x="6172200" y="960120"/>
            <a:ext cx="2514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D92D20"/>
                </a:solidFill>
              </a:rPr>
              <a:t>① </a:t>
            </a:r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3C4252"/>
                </a:solidFill>
              </a:rPr>
              <a:t>表格上方的「Location 未知」篩選鈕可以只看有問題的列</a:t>
            </a:r>
            <a:endParaRPr lang="en-US" sz="1100" dirty="0"/>
          </a:p>
          <a:p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D92D20"/>
                </a:solidFill>
              </a:rPr>
              <a:t>② </a:t>
            </a:r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3C4252"/>
                </a:solidFill>
              </a:rPr>
              <a:t>該列</a:t>
            </a:r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100" b="1" dirty="0">
                <a:solidFill>
                  <a:srgbClr val="3C4252"/>
                </a:solidFill>
              </a:rPr>
              <a:t>淡紅底</a:t>
            </a:r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3C4252"/>
                </a:solidFill>
              </a:rPr>
              <a:t>，並在 Location-Bot 欄寫出是哪幾個 Location</a:t>
            </a:r>
            <a:endParaRPr lang="en-US" sz="1100" dirty="0"/>
          </a:p>
          <a:p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D92D20"/>
                </a:solidFill>
              </a:rPr>
              <a:t>③ </a:t>
            </a:r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3C4252"/>
                </a:solidFill>
              </a:rPr>
              <a:t>Excel 的 H:O 欄也會寫同一段紅字警告</a:t>
            </a:r>
            <a:endParaRPr lang="en-US" sz="1100" dirty="0"/>
          </a:p>
          <a:p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D92D20"/>
                </a:solidFill>
              </a:rPr>
              <a:t>④ </a:t>
            </a:r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3C4252"/>
                </a:solidFill>
              </a:rPr>
              <a:t>執行日誌會列出受影響的 Item、Qty 與 Location</a:t>
            </a:r>
            <a:endParaRPr lang="en-US" sz="1100" dirty="0"/>
          </a:p>
        </p:txBody>
      </p:sp>
      <p:sp>
        <p:nvSpPr>
          <p:cNvPr id="15" name="warn"/>
          <p:cNvSpPr/>
          <p:nvPr/>
        </p:nvSpPr>
        <p:spPr>
          <a:xfrm>
            <a:off x="6172200" y="3383280"/>
            <a:ext cx="2514600" cy="1298448"/>
          </a:xfrm>
          <a:prstGeom prst="roundRect">
            <a:avLst>
              <a:gd name="adj" fmla="val 4225"/>
            </a:avLst>
          </a:prstGeom>
          <a:solidFill>
            <a:srgbClr val="FFF6EC"/>
          </a:solidFill>
          <a:ln w="12700">
            <a:solidFill>
              <a:srgbClr val="F0D3A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300216" y="3529584"/>
            <a:ext cx="118872" cy="118872"/>
          </a:xfrm>
          <a:prstGeom prst="ellipse">
            <a:avLst/>
          </a:prstGeom>
          <a:solidFill>
            <a:srgbClr val="E8863A"/>
          </a:solidFill>
          <a:ln w="12700">
            <a:solidFill>
              <a:srgbClr val="E8863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73952" y="3465576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4413"/>
                </a:solidFill>
              </a:rPr>
              <a:t>注意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6300216" y="3730752"/>
            <a:ext cx="225856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4413"/>
                </a:solidFill>
              </a:rPr>
              <a:t>Item 77 的 4 個 Location 全部查不到 —— 若靜默略過，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4413"/>
                </a:solidFill>
              </a:rPr>
              <a:t>TOP 和 BOT 都會是 0，4 顆電阻等於從兩面同時消失。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C2E"/>
                </a:solidFill>
              </a:rPr>
              <a:t>雙面板的三個規則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274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u="sng" dirty="0">
                <a:solidFill>
                  <a:srgbClr val="4F46E5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目錄</a:t>
            </a:r>
            <a:endParaRPr lang="en-US" sz="900" dirty="0"/>
          </a:p>
        </p:txBody>
      </p:sp>
      <p:sp>
        <p:nvSpPr>
          <p:cNvPr id="4" name="card0"/>
          <p:cNvSpPr/>
          <p:nvPr/>
        </p:nvSpPr>
        <p:spPr>
          <a:xfrm>
            <a:off x="457200" y="987552"/>
            <a:ext cx="2679192" cy="3200400"/>
          </a:xfrm>
          <a:prstGeom prst="roundRect">
            <a:avLst>
              <a:gd name="adj" fmla="val 2048"/>
            </a:avLst>
          </a:prstGeom>
          <a:solidFill>
            <a:srgbClr val="F7F8FA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87552"/>
            <a:ext cx="2679192" cy="713232"/>
          </a:xfrm>
          <a:prstGeom prst="roundRect">
            <a:avLst>
              <a:gd name="adj" fmla="val 7692"/>
            </a:avLst>
          </a:prstGeom>
          <a:solidFill>
            <a:srgbClr val="6B71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03504" y="1078992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Location 對照表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03504" y="1371600"/>
            <a:ext cx="2386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7F5"/>
                </a:solidFill>
              </a:rPr>
              <a:t>xlsx 為主．txt 為輔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1856232"/>
            <a:ext cx="235000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C4252"/>
                </a:solidFill>
              </a:rPr>
              <a:t>第一欄＝Location，第二欄＝Top/Bot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C4252"/>
                </a:solidFill>
              </a:rPr>
              <a:t>不看表頭名稱（實際檔案 TXT 是 T/B、XLSX 是 T_B）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C4252"/>
                </a:solidFill>
              </a:rPr>
              <a:t>TOP/T/BOT/B/BOTTOM 都接受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C4252"/>
                </a:solidFill>
              </a:rPr>
              <a:t>放程式目錄或 ExcelDB\ 底下</a:t>
            </a:r>
            <a:endParaRPr lang="en-US" sz="1100" dirty="0"/>
          </a:p>
        </p:txBody>
      </p:sp>
      <p:sp>
        <p:nvSpPr>
          <p:cNvPr id="9" name="card1"/>
          <p:cNvSpPr/>
          <p:nvPr/>
        </p:nvSpPr>
        <p:spPr>
          <a:xfrm>
            <a:off x="3319272" y="987552"/>
            <a:ext cx="2679192" cy="3200400"/>
          </a:xfrm>
          <a:prstGeom prst="roundRect">
            <a:avLst>
              <a:gd name="adj" fmla="val 2048"/>
            </a:avLst>
          </a:prstGeom>
          <a:solidFill>
            <a:srgbClr val="F7F8FA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19272" y="987552"/>
            <a:ext cx="2679192" cy="713232"/>
          </a:xfrm>
          <a:prstGeom prst="roundRect">
            <a:avLst>
              <a:gd name="adj" fmla="val 7692"/>
            </a:avLst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65576" y="1078992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Excel 欄位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465576" y="1371600"/>
            <a:ext cx="2386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7F5"/>
                </a:solidFill>
              </a:rPr>
              <a:t>維持 15 欄（A:O）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3483864" y="1856232"/>
            <a:ext cx="235000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C4252"/>
                </a:solidFill>
              </a:rPr>
              <a:t>F＝Location-Top Layer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C4252"/>
                </a:solidFill>
              </a:rPr>
              <a:t>G＝Location-Bottom Layer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C4252"/>
                </a:solidFill>
              </a:rPr>
              <a:t>H:O＝Knowledge Note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C4252"/>
                </a:solidFill>
              </a:rPr>
              <a:t>Qty 不變，TOP+BOT 各自計數</a:t>
            </a:r>
            <a:endParaRPr lang="en-US" sz="1100" dirty="0"/>
          </a:p>
        </p:txBody>
      </p:sp>
      <p:sp>
        <p:nvSpPr>
          <p:cNvPr id="14" name="card2"/>
          <p:cNvSpPr/>
          <p:nvPr/>
        </p:nvSpPr>
        <p:spPr>
          <a:xfrm>
            <a:off x="6181344" y="987552"/>
            <a:ext cx="2679192" cy="3200400"/>
          </a:xfrm>
          <a:prstGeom prst="roundRect">
            <a:avLst>
              <a:gd name="adj" fmla="val 2048"/>
            </a:avLst>
          </a:prstGeom>
          <a:solidFill>
            <a:srgbClr val="F7F8FA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81344" y="987552"/>
            <a:ext cx="2679192" cy="713232"/>
          </a:xfrm>
          <a:prstGeom prst="roundRect">
            <a:avLst>
              <a:gd name="adj" fmla="val 7692"/>
            </a:avLst>
          </a:prstGeom>
          <a:solidFill>
            <a:srgbClr val="2F8F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27648" y="1078992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PCB 圖片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327648" y="1371600"/>
            <a:ext cx="2386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7F5"/>
                </a:solidFill>
              </a:rPr>
              <a:t>檔名含 top / bot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345936" y="1856232"/>
            <a:ext cx="235000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C4252"/>
                </a:solidFill>
              </a:rPr>
              <a:t>pcb_top.jpg ＋ pcb_bot.jpg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C4252"/>
                </a:solidFill>
              </a:rPr>
              <a:t>圖片區切成上下兩半（rows 9-21 / 22-35）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C4252"/>
                </a:solidFill>
              </a:rPr>
              <a:t>只有一張圖就不切，維持整塊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C4252"/>
                </a:solidFill>
              </a:rPr>
              <a:t>沒有對照表＝單面板，與 v0.08 相同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89888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8D86F0"/>
                </a:solidFill>
              </a:rPr>
              <a:t>06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51460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電容降壓選料　R8</a:t>
            </a:r>
            <a:endParaRPr lang="en-US" sz="3600" dirty="0"/>
          </a:p>
        </p:txBody>
      </p:sp>
      <p:sp>
        <p:nvSpPr>
          <p:cNvPr id="4" name="Text 2">
            <a:hlinkClick r:id="rId1" tooltip="" action="ppaction://hlinksldjump"/>
          </p:cNvPr>
          <p:cNvSpPr txBox="1"/>
          <p:nvPr/>
        </p:nvSpPr>
        <p:spPr>
          <a:xfrm>
            <a:off x="7406640" y="46634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C9C5F8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回目錄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C2E"/>
                </a:solidFill>
              </a:rPr>
              <a:t>耐壓低於原始設計的替代料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274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u="sng" dirty="0">
                <a:solidFill>
                  <a:srgbClr val="4F46E5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目錄</a:t>
            </a:r>
            <a:endParaRPr lang="en-US" sz="900" dirty="0"/>
          </a:p>
        </p:txBody>
      </p:sp>
      <p:pic>
        <p:nvPicPr>
          <p:cNvPr id="4" name="shot" descr="F:\AI_BOM\docs\sop\shots\W_07_r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60120"/>
            <a:ext cx="5440680" cy="348543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960120"/>
            <a:ext cx="5440680" cy="348543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275731" y="1955173"/>
            <a:ext cx="169164" cy="169164"/>
          </a:xfrm>
          <a:prstGeom prst="ellipse">
            <a:avLst/>
          </a:prstGeom>
          <a:solidFill>
            <a:srgbClr val="D92D2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191149" y="1870591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1647777" y="2337721"/>
            <a:ext cx="169164" cy="169164"/>
          </a:xfrm>
          <a:prstGeom prst="ellipse">
            <a:avLst/>
          </a:prstGeom>
          <a:solidFill>
            <a:srgbClr val="D92D2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563195" y="2253139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2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625400" y="2337721"/>
            <a:ext cx="169164" cy="169164"/>
          </a:xfrm>
          <a:prstGeom prst="ellipse">
            <a:avLst/>
          </a:prstGeom>
          <a:solidFill>
            <a:srgbClr val="D92D2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540818" y="2253139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582894" y="4237708"/>
            <a:ext cx="169164" cy="169164"/>
          </a:xfrm>
          <a:prstGeom prst="ellipse">
            <a:avLst/>
          </a:prstGeom>
          <a:solidFill>
            <a:srgbClr val="D92D2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498312" y="4153126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4</a:t>
            </a:r>
            <a:endParaRPr lang="en-US" sz="850" dirty="0"/>
          </a:p>
        </p:txBody>
      </p:sp>
      <p:sp>
        <p:nvSpPr>
          <p:cNvPr id="14" name="Text 11"/>
          <p:cNvSpPr txBox="1"/>
          <p:nvPr/>
        </p:nvSpPr>
        <p:spPr>
          <a:xfrm>
            <a:off x="6172200" y="960120"/>
            <a:ext cx="2514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D92D20"/>
                </a:solidFill>
              </a:rPr>
              <a:t>① </a:t>
            </a:r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3C4252"/>
                </a:solidFill>
              </a:rPr>
              <a:t>表格上方的「需確認」篩選鈕只看這一類，數字是筆數</a:t>
            </a:r>
            <a:endParaRPr lang="en-US" sz="1100" dirty="0"/>
          </a:p>
          <a:p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D92D20"/>
                </a:solidFill>
              </a:rPr>
              <a:t>② </a:t>
            </a:r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3C4252"/>
                </a:solidFill>
              </a:rPr>
              <a:t>容值與封裝一致、</a:t>
            </a:r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100" b="1" dirty="0">
                <a:solidFill>
                  <a:srgbClr val="3C4252"/>
                </a:solidFill>
              </a:rPr>
              <a:t>DB 耐壓低於設計值</a:t>
            </a:r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3C4252"/>
                </a:solidFill>
              </a:rPr>
              <a:t>的電容才會進這一類</a:t>
            </a:r>
            <a:endParaRPr lang="en-US" sz="1100" dirty="0"/>
          </a:p>
          <a:p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D92D20"/>
                </a:solidFill>
              </a:rPr>
              <a:t>③ </a:t>
            </a:r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3C4252"/>
                </a:solidFill>
              </a:rPr>
              <a:t>Description 自動加註 </a:t>
            </a:r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100" b="1" dirty="0">
                <a:solidFill>
                  <a:srgbClr val="3C4252"/>
                </a:solidFill>
              </a:rPr>
              <a:t>(原始設計為10V, 請再確認)</a:t>
            </a:r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3C4252"/>
                </a:solidFill>
              </a:rPr>
              <a:t>，原始耐壓寫在裡面</a:t>
            </a:r>
            <a:endParaRPr lang="en-US" sz="1100" dirty="0"/>
          </a:p>
          <a:p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D92D20"/>
                </a:solidFill>
              </a:rPr>
              <a:t>④ </a:t>
            </a:r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3C4252"/>
                </a:solidFill>
              </a:rPr>
              <a:t>畫面上以 🔴／紅點標示；輸出 Excel 標</a:t>
            </a:r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100" b="1" dirty="0">
                <a:solidFill>
                  <a:srgbClr val="3C4252"/>
                </a:solidFill>
              </a:rPr>
              <a:t>紫底</a:t>
            </a:r>
            <a:pPr indent="0" marL="0">
              <a:lnSpc>
                <a:spcPts val="16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3C4252"/>
                </a:solidFill>
              </a:rPr>
              <a:t>，圖例也會多一列說明</a:t>
            </a:r>
            <a:endParaRPr lang="en-US" sz="1100" dirty="0"/>
          </a:p>
        </p:txBody>
      </p:sp>
      <p:sp>
        <p:nvSpPr>
          <p:cNvPr id="15" name="warn"/>
          <p:cNvSpPr/>
          <p:nvPr/>
        </p:nvSpPr>
        <p:spPr>
          <a:xfrm>
            <a:off x="6172200" y="3383280"/>
            <a:ext cx="2514600" cy="1298448"/>
          </a:xfrm>
          <a:prstGeom prst="roundRect">
            <a:avLst>
              <a:gd name="adj" fmla="val 4225"/>
            </a:avLst>
          </a:prstGeom>
          <a:solidFill>
            <a:srgbClr val="FFF6EC"/>
          </a:solidFill>
          <a:ln w="12700">
            <a:solidFill>
              <a:srgbClr val="F0D3A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300216" y="3529584"/>
            <a:ext cx="118872" cy="118872"/>
          </a:xfrm>
          <a:prstGeom prst="ellipse">
            <a:avLst/>
          </a:prstGeom>
          <a:solidFill>
            <a:srgbClr val="E8863A"/>
          </a:solidFill>
          <a:ln w="12700">
            <a:solidFill>
              <a:srgbClr val="E8863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73952" y="3465576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4413"/>
                </a:solidFill>
              </a:rPr>
              <a:t>注意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6300216" y="3730752"/>
            <a:ext cx="225856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4413"/>
                </a:solidFill>
              </a:rPr>
              <a:t>只放寬電容的耐壓。電流與誤差不放寬 ——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4413"/>
                </a:solidFill>
              </a:rPr>
              <a:t>耐壓不足看得到、可人工判斷；誤差或電流不符是功能性錯誤。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C2E"/>
                </a:solidFill>
              </a:rPr>
              <a:t>R8 怎麼判、怎麼確認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274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u="sng" dirty="0">
                <a:solidFill>
                  <a:srgbClr val="4F46E5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目錄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384048" cy="38404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024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24128" y="98755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C2E"/>
                </a:solidFill>
              </a:rPr>
              <a:t>先找規格完全符合的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24128" y="1280160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C4252"/>
                </a:solidFill>
              </a:rPr>
              <a:t>耐壓 ≥ 設計值、誤差 ≤ 設計值、電流 ≥ 設計值。找得到就用，不會走 R8。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1956816"/>
            <a:ext cx="384048" cy="38404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956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024128" y="192024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C2E"/>
                </a:solidFill>
              </a:rPr>
              <a:t>一個都沒有才考慮降壓品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24128" y="2212848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C4252"/>
                </a:solidFill>
              </a:rPr>
              <a:t>同容值、同封裝，但耐壓低於設計值。耐壓最接近設計值的排第一個。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2889504"/>
            <a:ext cx="384048" cy="38404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889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024128" y="285292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C2E"/>
                </a:solidFill>
              </a:rPr>
              <a:t>註記寫進 Description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024128" y="3145536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C4252"/>
                </a:solidFill>
              </a:rPr>
              <a:t>例：A/CAP 4.7uF 0402 6.3V M(+-20%) X5R (原始設計為10V, 請再確認)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822192"/>
            <a:ext cx="384048" cy="38404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822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024128" y="3785616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C2E"/>
                </a:solidFill>
              </a:rPr>
              <a:t>人工確認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024128" y="4078224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C4252"/>
                </a:solidFill>
              </a:rPr>
              <a:t>執行日誌會把每一筆列出來。確認可用就留著，不可用就在格子裡清掉料號。</a:t>
            </a:r>
            <a:endParaRPr lang="en-US" sz="11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89888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8D86F0"/>
                </a:solidFill>
              </a:rPr>
              <a:t>07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51460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看懂產出的 Excel</a:t>
            </a:r>
            <a:endParaRPr lang="en-US" sz="3600" dirty="0"/>
          </a:p>
        </p:txBody>
      </p:sp>
      <p:sp>
        <p:nvSpPr>
          <p:cNvPr id="4" name="Text 2">
            <a:hlinkClick r:id="rId1" tooltip="" action="ppaction://hlinksldjump"/>
          </p:cNvPr>
          <p:cNvSpPr txBox="1"/>
          <p:nvPr/>
        </p:nvSpPr>
        <p:spPr>
          <a:xfrm>
            <a:off x="7406640" y="46634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C9C5F8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回目錄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C2E"/>
                </a:solidFill>
              </a:rPr>
              <a:t>色底規則與替代料拆列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274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u="sng" dirty="0">
                <a:solidFill>
                  <a:srgbClr val="4F46E5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目錄</a:t>
            </a:r>
            <a:endParaRPr lang="en-US" sz="900" dirty="0"/>
          </a:p>
        </p:txBody>
      </p:sp>
      <p:sp>
        <p:nvSpPr>
          <p:cNvPr id="4" name="lg0"/>
          <p:cNvSpPr/>
          <p:nvPr/>
        </p:nvSpPr>
        <p:spPr>
          <a:xfrm>
            <a:off x="457200" y="987552"/>
            <a:ext cx="4023360" cy="548640"/>
          </a:xfrm>
          <a:prstGeom prst="roundRect">
            <a:avLst>
              <a:gd name="adj" fmla="val 10000"/>
            </a:avLst>
          </a:prstGeom>
          <a:solidFill>
            <a:srgbClr val="FFE0B2"/>
          </a:solidFill>
          <a:ln w="12700">
            <a:solidFill>
              <a:srgbClr val="E886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051560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C2E"/>
                </a:solidFill>
              </a:rPr>
              <a:t>橘底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051560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4252"/>
                </a:solidFill>
              </a:rPr>
              <a:t>Knowledge 命中（優先序最高）</a:t>
            </a:r>
            <a:endParaRPr lang="en-US" sz="1100" dirty="0"/>
          </a:p>
        </p:txBody>
      </p:sp>
      <p:sp>
        <p:nvSpPr>
          <p:cNvPr id="7" name="lg1"/>
          <p:cNvSpPr/>
          <p:nvPr/>
        </p:nvSpPr>
        <p:spPr>
          <a:xfrm>
            <a:off x="457200" y="1645920"/>
            <a:ext cx="4023360" cy="548640"/>
          </a:xfrm>
          <a:prstGeom prst="roundRect">
            <a:avLst>
              <a:gd name="adj" fmla="val 10000"/>
            </a:avLst>
          </a:prstGeom>
          <a:solidFill>
            <a:srgbClr val="FFF2CC"/>
          </a:solidFill>
          <a:ln w="12700">
            <a:solidFill>
              <a:srgbClr val="E8B93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1792" y="1709928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C2E"/>
                </a:solidFill>
              </a:rPr>
              <a:t>黃底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1709928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4252"/>
                </a:solidFill>
              </a:rPr>
              <a:t>原本為 NC 的零件</a:t>
            </a:r>
            <a:endParaRPr lang="en-US" sz="1100" dirty="0"/>
          </a:p>
        </p:txBody>
      </p:sp>
      <p:sp>
        <p:nvSpPr>
          <p:cNvPr id="10" name="lg2"/>
          <p:cNvSpPr/>
          <p:nvPr/>
        </p:nvSpPr>
        <p:spPr>
          <a:xfrm>
            <a:off x="457200" y="2304288"/>
            <a:ext cx="4023360" cy="548640"/>
          </a:xfrm>
          <a:prstGeom prst="roundRect">
            <a:avLst>
              <a:gd name="adj" fmla="val 10000"/>
            </a:avLst>
          </a:prstGeom>
          <a:solidFill>
            <a:srgbClr val="E2EFDA"/>
          </a:solidFill>
          <a:ln w="12700">
            <a:solidFill>
              <a:srgbClr val="0F9D5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" y="236829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C2E"/>
                </a:solidFill>
              </a:rPr>
              <a:t>綠底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2368296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4252"/>
                </a:solidFill>
              </a:rPr>
              <a:t>含替代料（已拆列）</a:t>
            </a:r>
            <a:endParaRPr lang="en-US" sz="1100" dirty="0"/>
          </a:p>
        </p:txBody>
      </p:sp>
      <p:sp>
        <p:nvSpPr>
          <p:cNvPr id="13" name="lg3"/>
          <p:cNvSpPr/>
          <p:nvPr/>
        </p:nvSpPr>
        <p:spPr>
          <a:xfrm>
            <a:off x="457200" y="2962656"/>
            <a:ext cx="4023360" cy="548640"/>
          </a:xfrm>
          <a:prstGeom prst="roundRect">
            <a:avLst>
              <a:gd name="adj" fmla="val 10000"/>
            </a:avLst>
          </a:prstGeom>
          <a:solidFill>
            <a:srgbClr val="D9E1F2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" y="3026664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C2E"/>
                </a:solidFill>
              </a:rPr>
              <a:t>藍底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3026664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4252"/>
                </a:solidFill>
              </a:rPr>
              <a:t>Total 合計列</a:t>
            </a:r>
            <a:endParaRPr lang="en-US" sz="1100" dirty="0"/>
          </a:p>
        </p:txBody>
      </p:sp>
      <p:sp>
        <p:nvSpPr>
          <p:cNvPr id="16" name="lg4"/>
          <p:cNvSpPr/>
          <p:nvPr/>
        </p:nvSpPr>
        <p:spPr>
          <a:xfrm>
            <a:off x="457200" y="3621024"/>
            <a:ext cx="4023360" cy="548640"/>
          </a:xfrm>
          <a:prstGeom prst="roundRect">
            <a:avLst>
              <a:gd name="adj" fmla="val 10000"/>
            </a:avLst>
          </a:prstGeom>
          <a:solidFill>
            <a:srgbClr val="EDE9FE"/>
          </a:solidFill>
          <a:ln w="12700">
            <a:solidFill>
              <a:srgbClr val="7C6C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" y="3685032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C2E"/>
                </a:solidFill>
              </a:rPr>
              <a:t>紫底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3685032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4252"/>
                </a:solidFill>
              </a:rPr>
              <a:t>R8 降壓選料，Description 已註記，請人工確認</a:t>
            </a:r>
            <a:endParaRPr lang="en-US" sz="1100" dirty="0"/>
          </a:p>
        </p:txBody>
      </p:sp>
      <p:sp>
        <p:nvSpPr>
          <p:cNvPr id="19" name="lg5"/>
          <p:cNvSpPr/>
          <p:nvPr/>
        </p:nvSpPr>
        <p:spPr>
          <a:xfrm>
            <a:off x="457200" y="4279392"/>
            <a:ext cx="4023360" cy="548640"/>
          </a:xfrm>
          <a:prstGeom prst="roundRect">
            <a:avLst>
              <a:gd name="adj" fmla="val 10000"/>
            </a:avLst>
          </a:prstGeom>
          <a:solidFill>
            <a:srgbClr val="FDE1E1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1792" y="4343400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C2E"/>
                </a:solidFill>
              </a:rPr>
              <a:t>紅底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417320" y="4343400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4252"/>
                </a:solidFill>
              </a:rPr>
              <a:t>有 Location 查不到 Top/Bot（雙面板專用）</a:t>
            </a:r>
            <a:endParaRPr lang="en-US" sz="1100" dirty="0"/>
          </a:p>
        </p:txBody>
      </p:sp>
      <p:sp>
        <p:nvSpPr>
          <p:cNvPr id="22" name="split"/>
          <p:cNvSpPr/>
          <p:nvPr/>
        </p:nvSpPr>
        <p:spPr>
          <a:xfrm>
            <a:off x="4754880" y="987552"/>
            <a:ext cx="4389120" cy="2633472"/>
          </a:xfrm>
          <a:prstGeom prst="roundRect">
            <a:avLst>
              <a:gd name="adj" fmla="val 2083"/>
            </a:avLst>
          </a:prstGeom>
          <a:solidFill>
            <a:srgbClr val="F7F8FA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937760" y="10972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46E5"/>
                </a:solidFill>
              </a:rPr>
              <a:t>替代料拆列（v0.07 起）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4937760" y="144475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1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v0.06　一列　P/N = 61041115;61041238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4937760" y="1783080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C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v0.08　主列　Item=8  Qty=3  Location=C2,C3,C6  P/N=61041115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C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　　　　續列　Item=空 Qty=空 Location=空　　　 P/N=61041238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4937760" y="2596896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C4252"/>
                </a:solidFill>
              </a:rPr>
              <a:t>續列的 Description 是該替代料自己的 DB 描述。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C4252"/>
                </a:solidFill>
              </a:rPr>
              <a:t>Total Qty 只加總主列，不會因為拆列而重複計算。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C2E"/>
                </a:solidFill>
              </a:rPr>
              <a:t>資料夾規則與自動偵測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274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u="sng" dirty="0">
                <a:solidFill>
                  <a:srgbClr val="4F46E5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目錄</a:t>
            </a:r>
            <a:endParaRPr lang="en-US" sz="9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87552"/>
          <a:ext cx="822960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2743200"/>
                <a:gridCol w="42519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資料夾</a:t>
                      </a:r>
                      <a:endParaRPr lang="en-US" sz="105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放什麼</a:t>
                      </a:r>
                      <a:endParaRPr lang="en-US" sz="105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怎麼認</a:t>
                      </a:r>
                      <a:endParaRPr lang="en-US" sz="105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F46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TXT\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C4252"/>
                          </a:solidFill>
                        </a:rPr>
                        <a:t>Altium Text BOM（*.txt / *.BOM）</a:t>
                      </a:r>
                      <a:endParaRPr lang="en-US" sz="105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C4252"/>
                          </a:solidFill>
                        </a:rPr>
                        <a:t>要有一列是 TAB 分隔的表頭，欄位含 Item / Quantity / Reference</a:t>
                      </a:r>
                      <a:endParaRPr lang="en-US" sz="105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F46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ExcelDB\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C4252"/>
                          </a:solidFill>
                        </a:rPr>
                        <a:t>零件資料庫 + Knowledge（*.xlsx）</a:t>
                      </a:r>
                      <a:endParaRPr lang="en-US" sz="105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C4252"/>
                          </a:solidFill>
                        </a:rPr>
                        <a:t>零件庫第 1 列要有 P/N 與 Description；Knowledge 要有 品名 與 包裝</a:t>
                      </a:r>
                      <a:endParaRPr lang="en-US" sz="105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F46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screenshot\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C4252"/>
                          </a:solidFill>
                        </a:rPr>
                        <a:t>PCB 圖片（*.jpg / *.png）</a:t>
                      </a:r>
                      <a:endParaRPr lang="en-US" sz="105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C4252"/>
                          </a:solidFill>
                        </a:rPr>
                        <a:t>pcb.* 優先，其餘依最後修改時間</a:t>
                      </a:r>
                      <a:endParaRPr lang="en-US" sz="105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F46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output\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C4252"/>
                          </a:solidFill>
                        </a:rPr>
                        <a:t>產出的 E-BOM</a:t>
                      </a:r>
                      <a:endParaRPr lang="en-US" sz="105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C4252"/>
                          </a:solidFill>
                        </a:rPr>
                        <a:t>不存在時輸出到程式所在資料夾</a:t>
                      </a:r>
                      <a:endParaRPr lang="en-US" sz="105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32461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7180"/>
                </a:solidFill>
              </a:rPr>
              <a:t>四類候選都依「最後修改時間」排序，最新的排第一個並預設選中。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7180"/>
                </a:solidFill>
              </a:rPr>
              <a:t>這些子資料夾都是選用的，找不到就退回程式所在資料夾。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89888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8D86F0"/>
                </a:solidFill>
              </a:rPr>
              <a:t>08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51460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疑難排解</a:t>
            </a:r>
            <a:endParaRPr lang="en-US" sz="3600" dirty="0"/>
          </a:p>
        </p:txBody>
      </p:sp>
      <p:sp>
        <p:nvSpPr>
          <p:cNvPr id="4" name="Text 2">
            <a:hlinkClick r:id="rId1" tooltip="" action="ppaction://hlinksldjump"/>
          </p:cNvPr>
          <p:cNvSpPr txBox="1"/>
          <p:nvPr/>
        </p:nvSpPr>
        <p:spPr>
          <a:xfrm>
            <a:off x="7406640" y="46634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C9C5F8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回目錄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C2E"/>
                </a:solidFill>
              </a:rPr>
              <a:t>常見問題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274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u="sng" dirty="0">
                <a:solidFill>
                  <a:srgbClr val="4F46E5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目錄</a:t>
            </a:r>
            <a:endParaRPr lang="en-US" sz="900" dirty="0"/>
          </a:p>
        </p:txBody>
      </p:sp>
      <p:sp>
        <p:nvSpPr>
          <p:cNvPr id="4" name="qa0"/>
          <p:cNvSpPr/>
          <p:nvPr/>
        </p:nvSpPr>
        <p:spPr>
          <a:xfrm>
            <a:off x="457200" y="987552"/>
            <a:ext cx="4023360" cy="1005840"/>
          </a:xfrm>
          <a:prstGeom prst="roundRect">
            <a:avLst>
              <a:gd name="adj" fmla="val 5455"/>
            </a:avLst>
          </a:prstGeom>
          <a:solidFill>
            <a:srgbClr val="F7F8FA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03504" y="1078992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</a:rPr>
              <a:t>Q　</a:t>
            </a:r>
            <a:pPr indent="0" marL="0">
              <a:buNone/>
            </a:pPr>
            <a:r>
              <a:rPr lang="en-US" sz="1200" b="1" dirty="0">
                <a:solidFill>
                  <a:srgbClr val="1A1C2E"/>
                </a:solidFill>
              </a:rPr>
              <a:t>雙擊 .bat 一閃就關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03504" y="1389888"/>
            <a:ext cx="3730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C4252"/>
                </a:solidFill>
              </a:rPr>
              <a:t>沒裝 Python 或沒加入 PATH。先跑「安裝.bat」看訊息。</a:t>
            </a:r>
            <a:endParaRPr lang="en-US" sz="1050" dirty="0"/>
          </a:p>
        </p:txBody>
      </p:sp>
      <p:sp>
        <p:nvSpPr>
          <p:cNvPr id="7" name="qa1"/>
          <p:cNvSpPr/>
          <p:nvPr/>
        </p:nvSpPr>
        <p:spPr>
          <a:xfrm>
            <a:off x="4663440" y="987552"/>
            <a:ext cx="4023360" cy="1005840"/>
          </a:xfrm>
          <a:prstGeom prst="roundRect">
            <a:avLst>
              <a:gd name="adj" fmla="val 5455"/>
            </a:avLst>
          </a:prstGeom>
          <a:solidFill>
            <a:srgbClr val="F7F8FA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09744" y="1078992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</a:rPr>
              <a:t>Q　</a:t>
            </a:r>
            <a:pPr indent="0" marL="0">
              <a:buNone/>
            </a:pPr>
            <a:r>
              <a:rPr lang="en-US" sz="1200" b="1" dirty="0">
                <a:solidFill>
                  <a:srgbClr val="1A1C2E"/>
                </a:solidFill>
              </a:rPr>
              <a:t>雙擊 .py 沒反應 / 閃退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809744" y="1389888"/>
            <a:ext cx="3730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C4252"/>
                </a:solidFill>
              </a:rPr>
              <a:t>S 案的 .py 必須用 streamlit 啟動，一律走 run_S_streamlit.bat。</a:t>
            </a:r>
            <a:endParaRPr lang="en-US" sz="1050" dirty="0"/>
          </a:p>
        </p:txBody>
      </p:sp>
      <p:sp>
        <p:nvSpPr>
          <p:cNvPr id="10" name="qa2"/>
          <p:cNvSpPr/>
          <p:nvPr/>
        </p:nvSpPr>
        <p:spPr>
          <a:xfrm>
            <a:off x="457200" y="2130552"/>
            <a:ext cx="4023360" cy="1005840"/>
          </a:xfrm>
          <a:prstGeom prst="roundRect">
            <a:avLst>
              <a:gd name="adj" fmla="val 5455"/>
            </a:avLst>
          </a:prstGeom>
          <a:solidFill>
            <a:srgbClr val="F7F8FA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03504" y="2221992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</a:rPr>
              <a:t>Q　</a:t>
            </a:r>
            <a:pPr indent="0" marL="0">
              <a:buNone/>
            </a:pPr>
            <a:r>
              <a:rPr lang="en-US" sz="1200" b="1" dirty="0">
                <a:solidFill>
                  <a:srgbClr val="1A1C2E"/>
                </a:solidFill>
              </a:rPr>
              <a:t>S 案瀏覽器打不開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03504" y="2532888"/>
            <a:ext cx="3730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C4252"/>
                </a:solidFill>
              </a:rPr>
              <a:t>8601 埠被占用。改用 --server.port 8602 另開一個埠。</a:t>
            </a:r>
            <a:endParaRPr lang="en-US" sz="1050" dirty="0"/>
          </a:p>
        </p:txBody>
      </p:sp>
      <p:sp>
        <p:nvSpPr>
          <p:cNvPr id="13" name="qa3"/>
          <p:cNvSpPr/>
          <p:nvPr/>
        </p:nvSpPr>
        <p:spPr>
          <a:xfrm>
            <a:off x="4663440" y="2130552"/>
            <a:ext cx="4023360" cy="1005840"/>
          </a:xfrm>
          <a:prstGeom prst="roundRect">
            <a:avLst>
              <a:gd name="adj" fmla="val 5455"/>
            </a:avLst>
          </a:prstGeom>
          <a:solidFill>
            <a:srgbClr val="F7F8FA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09744" y="2221992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</a:rPr>
              <a:t>Q　</a:t>
            </a:r>
            <a:pPr indent="0" marL="0">
              <a:buNone/>
            </a:pPr>
            <a:r>
              <a:rPr lang="en-US" sz="1200" b="1" dirty="0">
                <a:solidFill>
                  <a:srgbClr val="1A1C2E"/>
                </a:solidFill>
              </a:rPr>
              <a:t>W 案視窗開不起來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809744" y="2532888"/>
            <a:ext cx="3730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C4252"/>
                </a:solidFill>
              </a:rPr>
              <a:t>用 run_W_webview_debug.bat 看訊息，多半是缺 Edge WebView2 Runtime。</a:t>
            </a:r>
            <a:endParaRPr lang="en-US" sz="1050" dirty="0"/>
          </a:p>
        </p:txBody>
      </p:sp>
      <p:sp>
        <p:nvSpPr>
          <p:cNvPr id="16" name="qa4"/>
          <p:cNvSpPr/>
          <p:nvPr/>
        </p:nvSpPr>
        <p:spPr>
          <a:xfrm>
            <a:off x="457200" y="3273552"/>
            <a:ext cx="4023360" cy="1005840"/>
          </a:xfrm>
          <a:prstGeom prst="roundRect">
            <a:avLst>
              <a:gd name="adj" fmla="val 5455"/>
            </a:avLst>
          </a:prstGeom>
          <a:solidFill>
            <a:srgbClr val="F7F8FA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03504" y="3364992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</a:rPr>
              <a:t>Q　</a:t>
            </a:r>
            <a:pPr indent="0" marL="0">
              <a:buNone/>
            </a:pPr>
            <a:r>
              <a:rPr lang="en-US" sz="1200" b="1" dirty="0">
                <a:solidFill>
                  <a:srgbClr val="1A1C2E"/>
                </a:solidFill>
              </a:rPr>
              <a:t>說找不到零件資料庫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03504" y="3675888"/>
            <a:ext cx="3730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C4252"/>
                </a:solidFill>
              </a:rPr>
              <a:t>檢查 xlsx 第 1 列是不是「P/N」與「Description」這兩個字。</a:t>
            </a:r>
            <a:endParaRPr lang="en-US" sz="1050" dirty="0"/>
          </a:p>
        </p:txBody>
      </p:sp>
      <p:sp>
        <p:nvSpPr>
          <p:cNvPr id="19" name="qa5"/>
          <p:cNvSpPr/>
          <p:nvPr/>
        </p:nvSpPr>
        <p:spPr>
          <a:xfrm>
            <a:off x="4663440" y="3273552"/>
            <a:ext cx="4023360" cy="1005840"/>
          </a:xfrm>
          <a:prstGeom prst="roundRect">
            <a:avLst>
              <a:gd name="adj" fmla="val 5455"/>
            </a:avLst>
          </a:prstGeom>
          <a:solidFill>
            <a:srgbClr val="F7F8FA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09744" y="3364992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</a:rPr>
              <a:t>Q　</a:t>
            </a:r>
            <a:pPr indent="0" marL="0">
              <a:buNone/>
            </a:pPr>
            <a:r>
              <a:rPr lang="en-US" sz="1200" b="1" dirty="0">
                <a:solidFill>
                  <a:srgbClr val="1A1C2E"/>
                </a:solidFill>
              </a:rPr>
              <a:t>產出的檔案別的工具打不開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809744" y="3675888"/>
            <a:ext cx="3730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C4252"/>
                </a:solidFill>
              </a:rPr>
              <a:t>v0.08 起副檔名強制 .xlsx，不會再有 .xls 的問題。</a:t>
            </a:r>
            <a:endParaRPr lang="en-US" sz="10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C2E"/>
                </a:solidFill>
              </a:rPr>
              <a:t>v0.10 的重點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274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u="sng" dirty="0">
                <a:solidFill>
                  <a:srgbClr val="4F46E5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目錄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75488" y="1088136"/>
            <a:ext cx="137160" cy="1371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98755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C2E"/>
                </a:solidFill>
              </a:rPr>
              <a:t>屬性式比對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657600" y="100584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C4252"/>
                </a:solidFill>
              </a:rPr>
              <a:t>Part 拆成值／耐壓／誤差／電流再比，不再整串找子字串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75488" y="1655064"/>
            <a:ext cx="137160" cy="137160"/>
          </a:xfrm>
          <a:prstGeom prst="ellipse">
            <a:avLst/>
          </a:prstGeom>
          <a:solidFill>
            <a:srgbClr val="0F9D58"/>
          </a:solidFill>
          <a:ln w="12700">
            <a:solidFill>
              <a:srgbClr val="0F9D5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155448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C2E"/>
                </a:solidFill>
              </a:rPr>
              <a:t>NC(...) 認得出來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657600" y="157276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C4252"/>
                </a:solidFill>
              </a:rPr>
              <a:t>SM8008 有 26 項括號式 NC，v0.08 全部漏判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5488" y="2221992"/>
            <a:ext cx="137160" cy="137160"/>
          </a:xfrm>
          <a:prstGeom prst="ellipse">
            <a:avLst/>
          </a:prstGeom>
          <a:solidFill>
            <a:srgbClr val="E8863A"/>
          </a:solidFill>
          <a:ln w="12700">
            <a:solidFill>
              <a:srgbClr val="E8863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9808" y="212140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C2E"/>
                </a:solidFill>
              </a:rPr>
              <a:t>未命中會說原因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213969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C4252"/>
                </a:solidFill>
              </a:rPr>
              <a:t>不再靜默留白 —— 格式變了當場就看得到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75488" y="2788920"/>
            <a:ext cx="137160" cy="137160"/>
          </a:xfrm>
          <a:prstGeom prst="ellipse">
            <a:avLst/>
          </a:prstGeom>
          <a:solidFill>
            <a:srgbClr val="E8B931"/>
          </a:solidFill>
          <a:ln w="12700">
            <a:solidFill>
              <a:srgbClr val="E8B93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9808" y="2688336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C2E"/>
                </a:solidFill>
              </a:rPr>
              <a:t>雙面板 Top / Bot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657600" y="270662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C4252"/>
                </a:solidFill>
              </a:rPr>
              <a:t>F、G 兩欄＋兩張 PCB 圖＋Location 對不上三層警告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5488" y="3355848"/>
            <a:ext cx="137160" cy="137160"/>
          </a:xfrm>
          <a:prstGeom prst="ellipse">
            <a:avLst/>
          </a:prstGeom>
          <a:solidFill>
            <a:srgbClr val="6B7180"/>
          </a:solidFill>
          <a:ln w="12700">
            <a:solidFill>
              <a:srgbClr val="6B718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9808" y="325526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C2E"/>
                </a:solidFill>
              </a:rPr>
              <a:t>Location 加 (T)/(B)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657600" y="327355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C4252"/>
                </a:solidFill>
              </a:rPr>
              <a:t>Excel 與 C/D 畫面的 Location-Top / Bot 每個值都冠上 (T) 或 (B)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75488" y="3922776"/>
            <a:ext cx="137160" cy="1371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9808" y="382219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C2E"/>
                </a:solidFill>
              </a:rPr>
              <a:t>R8 電容降壓選料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3657600" y="384048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C4252"/>
                </a:solidFill>
              </a:rPr>
              <a:t>耐壓不足可選，Description 註記「請再確認」並標紫底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75488" y="4489704"/>
            <a:ext cx="137160" cy="137160"/>
          </a:xfrm>
          <a:prstGeom prst="ellipse">
            <a:avLst/>
          </a:prstGeom>
          <a:solidFill>
            <a:srgbClr val="0F9D58"/>
          </a:solidFill>
          <a:ln w="12700">
            <a:solidFill>
              <a:srgbClr val="0F9D5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49808" y="438912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C2E"/>
                </a:solidFill>
              </a:rPr>
              <a:t>SM8008 命中 26 → 45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3657600" y="440740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C4252"/>
                </a:solidFill>
              </a:rPr>
              <a:t>三份 BOM 回歸測試零退步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3977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180"/>
                </a:solidFill>
              </a:rPr>
              <a:t>完整清單見 changelog_BOM_matcher_v0.10.txt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BOM Matcher v0.10 操作 SOP</dc:title>
  <dc:subject>PptxGenJS Presentation</dc:subject>
  <dc:creator>ADATA Technology</dc:creator>
  <cp:lastModifiedBy>ADATA Technology</cp:lastModifiedBy>
  <cp:revision>1</cp:revision>
  <dcterms:created xsi:type="dcterms:W3CDTF">2026-10-22T07:47:53Z</dcterms:created>
  <dcterms:modified xsi:type="dcterms:W3CDTF">2026-10-22T07:47:53Z</dcterms:modified>
</cp:coreProperties>
</file>